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ague Spartan" charset="1" panose="00000800000000000000"/>
      <p:regular r:id="rId14"/>
    </p:embeddedFont>
    <p:embeddedFont>
      <p:font typeface="TT Fors Bold" charset="1" panose="020B0003030001020000"/>
      <p:regular r:id="rId15"/>
    </p:embeddedFont>
    <p:embeddedFont>
      <p:font typeface="Extenda 90 Exa" charset="1" panose="020B0003020200000002"/>
      <p:regular r:id="rId16"/>
    </p:embeddedFont>
    <p:embeddedFont>
      <p:font typeface="Poppins Bold" charset="1" panose="00000800000000000000"/>
      <p:regular r:id="rId17"/>
    </p:embeddedFont>
    <p:embeddedFont>
      <p:font typeface="Canva Sans Bold" charset="1" panose="020B08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jpeg" Type="http://schemas.openxmlformats.org/officeDocument/2006/relationships/image"/><Relationship Id="rId11" Target="../media/image20.jpeg" Type="http://schemas.openxmlformats.org/officeDocument/2006/relationships/image"/><Relationship Id="rId12" Target="../media/image10.jpe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8.jpeg" Type="http://schemas.openxmlformats.org/officeDocument/2006/relationships/image"/><Relationship Id="rId9"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5939289" y="1719072"/>
            <a:ext cx="6409422" cy="1394406"/>
            <a:chOff x="0" y="0"/>
            <a:chExt cx="1868028" cy="406400"/>
          </a:xfrm>
        </p:grpSpPr>
        <p:sp>
          <p:nvSpPr>
            <p:cNvPr name="Freeform 12" id="12"/>
            <p:cNvSpPr/>
            <p:nvPr/>
          </p:nvSpPr>
          <p:spPr>
            <a:xfrm flipH="false" flipV="false" rot="0">
              <a:off x="0" y="0"/>
              <a:ext cx="1868028" cy="406400"/>
            </a:xfrm>
            <a:custGeom>
              <a:avLst/>
              <a:gdLst/>
              <a:ahLst/>
              <a:cxnLst/>
              <a:rect r="r" b="b" t="t" l="l"/>
              <a:pathLst>
                <a:path h="406400" w="1868028">
                  <a:moveTo>
                    <a:pt x="1664828" y="0"/>
                  </a:moveTo>
                  <a:cubicBezTo>
                    <a:pt x="1777053" y="0"/>
                    <a:pt x="1868028" y="90976"/>
                    <a:pt x="1868028" y="203200"/>
                  </a:cubicBezTo>
                  <a:cubicBezTo>
                    <a:pt x="1868028" y="315424"/>
                    <a:pt x="1777053" y="406400"/>
                    <a:pt x="1664828"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95250"/>
              <a:ext cx="1868028" cy="501650"/>
            </a:xfrm>
            <a:prstGeom prst="rect">
              <a:avLst/>
            </a:prstGeom>
          </p:spPr>
          <p:txBody>
            <a:bodyPr anchor="ctr" rtlCol="false" tIns="50800" lIns="50800" bIns="50800" rIns="50800"/>
            <a:lstStyle/>
            <a:p>
              <a:pPr algn="ctr">
                <a:lnSpc>
                  <a:spcPts val="6719"/>
                </a:lnSpc>
              </a:pPr>
              <a:r>
                <a:rPr lang="en-US" sz="4800">
                  <a:solidFill>
                    <a:srgbClr val="FFFFFF"/>
                  </a:solidFill>
                  <a:latin typeface="League Spartan"/>
                  <a:ea typeface="League Spartan"/>
                  <a:cs typeface="League Spartan"/>
                  <a:sym typeface="League Spartan"/>
                </a:rPr>
                <a:t>Introduction!!</a:t>
              </a:r>
            </a:p>
          </p:txBody>
        </p:sp>
      </p:grpSp>
      <p:grpSp>
        <p:nvGrpSpPr>
          <p:cNvPr name="Group 14" id="14"/>
          <p:cNvGrpSpPr/>
          <p:nvPr/>
        </p:nvGrpSpPr>
        <p:grpSpPr>
          <a:xfrm rot="0">
            <a:off x="15066413" y="683012"/>
            <a:ext cx="2065807" cy="749445"/>
            <a:chOff x="0" y="0"/>
            <a:chExt cx="1120221" cy="406400"/>
          </a:xfrm>
        </p:grpSpPr>
        <p:sp>
          <p:nvSpPr>
            <p:cNvPr name="Freeform 15" id="15"/>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6" id="16"/>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4561144" y="1668571"/>
            <a:ext cx="1986296" cy="1906844"/>
          </a:xfrm>
          <a:custGeom>
            <a:avLst/>
            <a:gdLst/>
            <a:ahLst/>
            <a:cxnLst/>
            <a:rect r="r" b="b" t="t" l="l"/>
            <a:pathLst>
              <a:path h="1906844" w="1986296">
                <a:moveTo>
                  <a:pt x="0" y="0"/>
                </a:moveTo>
                <a:lnTo>
                  <a:pt x="1986296" y="0"/>
                </a:lnTo>
                <a:lnTo>
                  <a:pt x="1986296" y="1906844"/>
                </a:lnTo>
                <a:lnTo>
                  <a:pt x="0" y="1906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241708" y="828104"/>
            <a:ext cx="2240780" cy="2402396"/>
          </a:xfrm>
          <a:custGeom>
            <a:avLst/>
            <a:gdLst/>
            <a:ahLst/>
            <a:cxnLst/>
            <a:rect r="r" b="b" t="t" l="l"/>
            <a:pathLst>
              <a:path h="2402396" w="2240780">
                <a:moveTo>
                  <a:pt x="0" y="0"/>
                </a:moveTo>
                <a:lnTo>
                  <a:pt x="2240780" y="0"/>
                </a:lnTo>
                <a:lnTo>
                  <a:pt x="2240780" y="2402396"/>
                </a:lnTo>
                <a:lnTo>
                  <a:pt x="0" y="2402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20" id="20"/>
          <p:cNvGrpSpPr/>
          <p:nvPr/>
        </p:nvGrpSpPr>
        <p:grpSpPr>
          <a:xfrm rot="0">
            <a:off x="16543936" y="646641"/>
            <a:ext cx="822187" cy="82218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01</a:t>
            </a:r>
          </a:p>
        </p:txBody>
      </p:sp>
      <p:sp>
        <p:nvSpPr>
          <p:cNvPr name="TextBox 24" id="24"/>
          <p:cNvSpPr txBox="true"/>
          <p:nvPr/>
        </p:nvSpPr>
        <p:spPr>
          <a:xfrm rot="0">
            <a:off x="4815988" y="134443"/>
            <a:ext cx="8414354" cy="1584629"/>
          </a:xfrm>
          <a:prstGeom prst="rect">
            <a:avLst/>
          </a:prstGeom>
        </p:spPr>
        <p:txBody>
          <a:bodyPr anchor="t" rtlCol="false" tIns="0" lIns="0" bIns="0" rIns="0">
            <a:spAutoFit/>
          </a:bodyPr>
          <a:lstStyle/>
          <a:p>
            <a:pPr algn="ctr">
              <a:lnSpc>
                <a:spcPts val="6322"/>
              </a:lnSpc>
            </a:pPr>
            <a:r>
              <a:rPr lang="en-US" sz="4515">
                <a:solidFill>
                  <a:srgbClr val="3B1B72"/>
                </a:solidFill>
                <a:latin typeface="Extenda 90 Exa"/>
                <a:ea typeface="Extenda 90 Exa"/>
                <a:cs typeface="Extenda 90 Exa"/>
                <a:sym typeface="Extenda 90 Exa"/>
              </a:rPr>
              <a:t>Airline Flight Performance Dashboard</a:t>
            </a:r>
          </a:p>
        </p:txBody>
      </p:sp>
      <p:sp>
        <p:nvSpPr>
          <p:cNvPr name="TextBox 25" id="25"/>
          <p:cNvSpPr txBox="true"/>
          <p:nvPr/>
        </p:nvSpPr>
        <p:spPr>
          <a:xfrm rot="0">
            <a:off x="140315" y="3957602"/>
            <a:ext cx="18147685" cy="4939030"/>
          </a:xfrm>
          <a:prstGeom prst="rect">
            <a:avLst/>
          </a:prstGeom>
        </p:spPr>
        <p:txBody>
          <a:bodyPr anchor="t" rtlCol="false" tIns="0" lIns="0" bIns="0" rIns="0">
            <a:spAutoFit/>
          </a:bodyPr>
          <a:lstStyle/>
          <a:p>
            <a:pPr algn="ctr">
              <a:lnSpc>
                <a:spcPts val="3919"/>
              </a:lnSpc>
            </a:pPr>
            <a:r>
              <a:rPr lang="en-US" sz="2799" b="true">
                <a:solidFill>
                  <a:srgbClr val="000000"/>
                </a:solidFill>
                <a:latin typeface="TT Fors Bold"/>
                <a:ea typeface="TT Fors Bold"/>
                <a:cs typeface="TT Fors Bold"/>
                <a:sym typeface="TT Fors Bold"/>
              </a:rPr>
              <a:t>The Airline Flight Performance Dashboard is a data analytics project designed to analyze airline operations, financial performance, flight delays, passenger occupancy, and customer satisfaction.</a:t>
            </a:r>
          </a:p>
          <a:p>
            <a:pPr algn="ctr">
              <a:lnSpc>
                <a:spcPts val="3919"/>
              </a:lnSpc>
            </a:pPr>
            <a:r>
              <a:rPr lang="en-US" sz="2799" b="true">
                <a:solidFill>
                  <a:srgbClr val="000000"/>
                </a:solidFill>
                <a:latin typeface="TT Fors Bold"/>
                <a:ea typeface="TT Fors Bold"/>
                <a:cs typeface="TT Fors Bold"/>
                <a:sym typeface="TT Fors Bold"/>
              </a:rPr>
              <a:t>The dashboard uses an airline dataset containing 500 flight records, covering various airlines, routes, aircraft types, and cabin classes. It presents important information through Key Performance Indicators (KPIs), charts, and interactive filters.</a:t>
            </a:r>
          </a:p>
          <a:p>
            <a:pPr algn="ctr">
              <a:lnSpc>
                <a:spcPts val="3919"/>
              </a:lnSpc>
            </a:pPr>
            <a:r>
              <a:rPr lang="en-US" sz="2799" b="true">
                <a:solidFill>
                  <a:srgbClr val="000000"/>
                </a:solidFill>
                <a:latin typeface="TT Fors Bold"/>
                <a:ea typeface="TT Fors Bold"/>
                <a:cs typeface="TT Fors Bold"/>
                <a:sym typeface="TT Fors Bold"/>
              </a:rPr>
              <a:t>The main objective of this project is to transform raw flight data into meaningful insights that can help identify operational issues, monitor financial performance, and improve the overall passenger experience.</a:t>
            </a:r>
          </a:p>
          <a:p>
            <a:pPr algn="ctr">
              <a:lnSpc>
                <a:spcPts val="3919"/>
              </a:lnSpc>
            </a:pPr>
            <a:r>
              <a:rPr lang="en-US" sz="2799" b="true">
                <a:solidFill>
                  <a:srgbClr val="000000"/>
                </a:solidFill>
                <a:latin typeface="TT Fors Bold"/>
                <a:ea typeface="TT Fors Bold"/>
                <a:cs typeface="TT Fors Bold"/>
                <a:sym typeface="TT Fors Bold"/>
              </a:rPr>
              <a:t>Tools and Technologies: Dataset in CSV format, Python, Google Colab, HTML, and interactive data visualization.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1559690" y="1468828"/>
            <a:ext cx="6728310" cy="6578915"/>
            <a:chOff x="0" y="0"/>
            <a:chExt cx="13576768" cy="13275310"/>
          </a:xfrm>
        </p:grpSpPr>
        <p:sp>
          <p:nvSpPr>
            <p:cNvPr name="Freeform 15" id="15"/>
            <p:cNvSpPr/>
            <p:nvPr/>
          </p:nvSpPr>
          <p:spPr>
            <a:xfrm flipH="false" flipV="false" rot="0">
              <a:off x="0" y="0"/>
              <a:ext cx="13576767" cy="13275311"/>
            </a:xfrm>
            <a:custGeom>
              <a:avLst/>
              <a:gdLst/>
              <a:ahLst/>
              <a:cxnLst/>
              <a:rect r="r" b="b" t="t" l="l"/>
              <a:pathLst>
                <a:path h="13275311" w="13576767">
                  <a:moveTo>
                    <a:pt x="8160711" y="0"/>
                  </a:moveTo>
                  <a:lnTo>
                    <a:pt x="13576767" y="0"/>
                  </a:lnTo>
                  <a:lnTo>
                    <a:pt x="13576767" y="13275311"/>
                  </a:lnTo>
                  <a:lnTo>
                    <a:pt x="0" y="13275311"/>
                  </a:lnTo>
                  <a:lnTo>
                    <a:pt x="0" y="6649720"/>
                  </a:lnTo>
                  <a:cubicBezTo>
                    <a:pt x="0" y="2976880"/>
                    <a:pt x="3653305" y="0"/>
                    <a:pt x="8160711" y="0"/>
                  </a:cubicBezTo>
                  <a:close/>
                </a:path>
              </a:pathLst>
            </a:custGeom>
            <a:blipFill>
              <a:blip r:embed="rId4"/>
              <a:stretch>
                <a:fillRect l="-23243" t="0" r="-23243" b="0"/>
              </a:stretch>
            </a:blipFill>
          </p:spPr>
        </p:sp>
      </p:grpSp>
      <p:sp>
        <p:nvSpPr>
          <p:cNvPr name="Freeform 16" id="16"/>
          <p:cNvSpPr/>
          <p:nvPr/>
        </p:nvSpPr>
        <p:spPr>
          <a:xfrm flipH="false" flipV="false" rot="0">
            <a:off x="9343852" y="3128853"/>
            <a:ext cx="2360560" cy="2291889"/>
          </a:xfrm>
          <a:custGeom>
            <a:avLst/>
            <a:gdLst/>
            <a:ahLst/>
            <a:cxnLst/>
            <a:rect r="r" b="b" t="t" l="l"/>
            <a:pathLst>
              <a:path h="2291889" w="2360560">
                <a:moveTo>
                  <a:pt x="0" y="0"/>
                </a:moveTo>
                <a:lnTo>
                  <a:pt x="2360561" y="0"/>
                </a:lnTo>
                <a:lnTo>
                  <a:pt x="2360561" y="2291890"/>
                </a:lnTo>
                <a:lnTo>
                  <a:pt x="0" y="22918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18" id="18"/>
          <p:cNvGrpSpPr/>
          <p:nvPr/>
        </p:nvGrpSpPr>
        <p:grpSpPr>
          <a:xfrm rot="0">
            <a:off x="16543936" y="646641"/>
            <a:ext cx="822187" cy="82218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02</a:t>
            </a:r>
          </a:p>
        </p:txBody>
      </p:sp>
      <p:sp>
        <p:nvSpPr>
          <p:cNvPr name="TextBox 22" id="22"/>
          <p:cNvSpPr txBox="true"/>
          <p:nvPr/>
        </p:nvSpPr>
        <p:spPr>
          <a:xfrm rot="0">
            <a:off x="794792" y="137414"/>
            <a:ext cx="8396189" cy="1652269"/>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KPI  Summary</a:t>
            </a:r>
          </a:p>
        </p:txBody>
      </p:sp>
      <p:sp>
        <p:nvSpPr>
          <p:cNvPr name="TextBox 23" id="23"/>
          <p:cNvSpPr txBox="true"/>
          <p:nvPr/>
        </p:nvSpPr>
        <p:spPr>
          <a:xfrm rot="0">
            <a:off x="404379" y="1807275"/>
            <a:ext cx="6690435" cy="4174073"/>
          </a:xfrm>
          <a:prstGeom prst="rect">
            <a:avLst/>
          </a:prstGeom>
        </p:spPr>
        <p:txBody>
          <a:bodyPr anchor="t" rtlCol="false" tIns="0" lIns="0" bIns="0" rIns="0">
            <a:spAutoFit/>
          </a:bodyPr>
          <a:lstStyle/>
          <a:p>
            <a:pPr algn="ctr">
              <a:lnSpc>
                <a:spcPts val="2760"/>
              </a:lnSpc>
            </a:pPr>
            <a:r>
              <a:rPr lang="en-US" sz="1972" b="true">
                <a:solidFill>
                  <a:srgbClr val="000000"/>
                </a:solidFill>
                <a:latin typeface="TT Fors Bold"/>
                <a:ea typeface="TT Fors Bold"/>
                <a:cs typeface="TT Fors Bold"/>
                <a:sym typeface="TT Fors Bold"/>
              </a:rPr>
              <a:t>Key Performance Indicators (KPIs) provide a quick overview of airline performance.</a:t>
            </a:r>
          </a:p>
          <a:p>
            <a:pPr algn="ctr">
              <a:lnSpc>
                <a:spcPts val="2760"/>
              </a:lnSpc>
            </a:pPr>
            <a:r>
              <a:rPr lang="en-US" sz="1972" b="true">
                <a:solidFill>
                  <a:srgbClr val="000000"/>
                </a:solidFill>
                <a:latin typeface="TT Fors Bold"/>
                <a:ea typeface="TT Fors Bold"/>
                <a:cs typeface="TT Fors Bold"/>
                <a:sym typeface="TT Fors Bold"/>
              </a:rPr>
              <a:t>The following KPIs are calculated from the dataset:</a:t>
            </a:r>
          </a:p>
          <a:p>
            <a:pPr algn="ctr">
              <a:lnSpc>
                <a:spcPts val="2760"/>
              </a:lnSpc>
            </a:pPr>
            <a:r>
              <a:rPr lang="en-US" sz="1972" b="true">
                <a:solidFill>
                  <a:srgbClr val="000000"/>
                </a:solidFill>
                <a:latin typeface="TT Fors Bold"/>
                <a:ea typeface="TT Fors Bold"/>
                <a:cs typeface="TT Fors Bold"/>
                <a:sym typeface="TT Fors Bold"/>
              </a:rPr>
              <a:t>1. Total Flights: 500</a:t>
            </a:r>
          </a:p>
          <a:p>
            <a:pPr algn="ctr">
              <a:lnSpc>
                <a:spcPts val="2760"/>
              </a:lnSpc>
            </a:pPr>
            <a:r>
              <a:rPr lang="en-US" sz="1972" b="true">
                <a:solidFill>
                  <a:srgbClr val="000000"/>
                </a:solidFill>
                <a:latin typeface="TT Fors Bold"/>
                <a:ea typeface="TT Fors Bold"/>
                <a:cs typeface="TT Fors Bold"/>
                <a:sym typeface="TT Fors Bold"/>
              </a:rPr>
              <a:t>The dataset contains 500 flight records used to analyze airline performance.</a:t>
            </a:r>
          </a:p>
          <a:p>
            <a:pPr algn="ctr">
              <a:lnSpc>
                <a:spcPts val="2760"/>
              </a:lnSpc>
            </a:pPr>
            <a:r>
              <a:rPr lang="en-US" sz="1972" b="true">
                <a:solidFill>
                  <a:srgbClr val="000000"/>
                </a:solidFill>
                <a:latin typeface="TT Fors Bold"/>
                <a:ea typeface="TT Fors Bold"/>
                <a:cs typeface="TT Fors Bold"/>
                <a:sym typeface="TT Fors Bold"/>
              </a:rPr>
              <a:t>2. Total Revenue: ₹69.49 Crore</a:t>
            </a:r>
          </a:p>
          <a:p>
            <a:pPr algn="ctr">
              <a:lnSpc>
                <a:spcPts val="2760"/>
              </a:lnSpc>
            </a:pPr>
            <a:r>
              <a:rPr lang="en-US" sz="1972" b="true">
                <a:solidFill>
                  <a:srgbClr val="000000"/>
                </a:solidFill>
                <a:latin typeface="TT Fors Bold"/>
                <a:ea typeface="TT Fors Bold"/>
                <a:cs typeface="TT Fors Bold"/>
                <a:sym typeface="TT Fors Bold"/>
              </a:rPr>
              <a:t>This represents the combined revenue generated by all recorded flights.</a:t>
            </a:r>
          </a:p>
          <a:p>
            <a:pPr algn="ctr">
              <a:lnSpc>
                <a:spcPts val="2760"/>
              </a:lnSpc>
            </a:pPr>
            <a:r>
              <a:rPr lang="en-US" sz="1972" b="true">
                <a:solidFill>
                  <a:srgbClr val="000000"/>
                </a:solidFill>
                <a:latin typeface="TT Fors Bold"/>
                <a:ea typeface="TT Fors Bold"/>
                <a:cs typeface="TT Fors Bold"/>
                <a:sym typeface="TT Fors Bold"/>
              </a:rPr>
              <a:t>3. Total Profit: ₹26.27 Crore</a:t>
            </a:r>
          </a:p>
          <a:p>
            <a:pPr algn="ctr">
              <a:lnSpc>
                <a:spcPts val="2760"/>
              </a:lnSpc>
            </a:pPr>
            <a:r>
              <a:rPr lang="en-US" sz="1972" b="true">
                <a:solidFill>
                  <a:srgbClr val="000000"/>
                </a:solidFill>
                <a:latin typeface="TT Fors Bold"/>
                <a:ea typeface="TT Fors Bold"/>
                <a:cs typeface="TT Fors Bold"/>
                <a:sym typeface="TT Fors Bold"/>
              </a:rPr>
              <a:t>This indicates the total recorded profit after accounting for operating costs.</a:t>
            </a:r>
          </a:p>
        </p:txBody>
      </p:sp>
      <p:sp>
        <p:nvSpPr>
          <p:cNvPr name="TextBox 24" id="24"/>
          <p:cNvSpPr txBox="true"/>
          <p:nvPr/>
        </p:nvSpPr>
        <p:spPr>
          <a:xfrm rot="0">
            <a:off x="228368" y="5887576"/>
            <a:ext cx="11695287" cy="2128244"/>
          </a:xfrm>
          <a:prstGeom prst="rect">
            <a:avLst/>
          </a:prstGeom>
        </p:spPr>
        <p:txBody>
          <a:bodyPr anchor="t" rtlCol="false" tIns="0" lIns="0" bIns="0" rIns="0">
            <a:spAutoFit/>
          </a:bodyPr>
          <a:lstStyle/>
          <a:p>
            <a:pPr algn="ctr">
              <a:lnSpc>
                <a:spcPts val="2824"/>
              </a:lnSpc>
            </a:pPr>
            <a:r>
              <a:rPr lang="en-US" sz="2017" b="true">
                <a:solidFill>
                  <a:srgbClr val="000000"/>
                </a:solidFill>
                <a:latin typeface="TT Fors Bold"/>
                <a:ea typeface="TT Fors Bold"/>
                <a:cs typeface="TT Fors Bold"/>
                <a:sym typeface="TT Fors Bold"/>
              </a:rPr>
              <a:t>4. Average Load Factor: 80.6%</a:t>
            </a:r>
          </a:p>
          <a:p>
            <a:pPr algn="ctr">
              <a:lnSpc>
                <a:spcPts val="2824"/>
              </a:lnSpc>
            </a:pPr>
            <a:r>
              <a:rPr lang="en-US" sz="2017" b="true">
                <a:solidFill>
                  <a:srgbClr val="000000"/>
                </a:solidFill>
                <a:latin typeface="TT Fors Bold"/>
                <a:ea typeface="TT Fors Bold"/>
                <a:cs typeface="TT Fors Bold"/>
                <a:sym typeface="TT Fors Bold"/>
              </a:rPr>
              <a:t>On average, approximately 80.6% of available seats were occupied, indicating passenger demand relative to seat capacity.</a:t>
            </a:r>
          </a:p>
          <a:p>
            <a:pPr algn="ctr">
              <a:lnSpc>
                <a:spcPts val="2824"/>
              </a:lnSpc>
            </a:pPr>
            <a:r>
              <a:rPr lang="en-US" sz="2017" b="true">
                <a:solidFill>
                  <a:srgbClr val="000000"/>
                </a:solidFill>
                <a:latin typeface="TT Fors Bold"/>
                <a:ea typeface="TT Fors Bold"/>
                <a:cs typeface="TT Fors Bold"/>
                <a:sym typeface="TT Fors Bold"/>
              </a:rPr>
              <a:t>5. Average Recorded Delay: 25.49 Minutes</a:t>
            </a:r>
          </a:p>
          <a:p>
            <a:pPr algn="ctr">
              <a:lnSpc>
                <a:spcPts val="2824"/>
              </a:lnSpc>
            </a:pPr>
            <a:r>
              <a:rPr lang="en-US" sz="2017" b="true">
                <a:solidFill>
                  <a:srgbClr val="000000"/>
                </a:solidFill>
                <a:latin typeface="TT Fors Bold"/>
                <a:ea typeface="TT Fors Bold"/>
                <a:cs typeface="TT Fors Bold"/>
                <a:sym typeface="TT Fors Bold"/>
              </a:rPr>
              <a:t>The average value of the recorded delay field is approximately 25.49 minutes across all flight records. This includes the dataset's recorded values for different flight statuse</a:t>
            </a:r>
          </a:p>
        </p:txBody>
      </p:sp>
      <p:sp>
        <p:nvSpPr>
          <p:cNvPr name="TextBox 25" id="25"/>
          <p:cNvSpPr txBox="true"/>
          <p:nvPr/>
        </p:nvSpPr>
        <p:spPr>
          <a:xfrm rot="0">
            <a:off x="1052312" y="8202247"/>
            <a:ext cx="14218092" cy="1286980"/>
          </a:xfrm>
          <a:prstGeom prst="rect">
            <a:avLst/>
          </a:prstGeom>
        </p:spPr>
        <p:txBody>
          <a:bodyPr anchor="t" rtlCol="false" tIns="0" lIns="0" bIns="0" rIns="0">
            <a:spAutoFit/>
          </a:bodyPr>
          <a:lstStyle/>
          <a:p>
            <a:pPr algn="ctr">
              <a:lnSpc>
                <a:spcPts val="3433"/>
              </a:lnSpc>
            </a:pPr>
            <a:r>
              <a:rPr lang="en-US" sz="2452" b="true">
                <a:solidFill>
                  <a:srgbClr val="000000"/>
                </a:solidFill>
                <a:latin typeface="TT Fors Bold"/>
                <a:ea typeface="TT Fors Bold"/>
                <a:cs typeface="TT Fors Bold"/>
                <a:sym typeface="TT Fors Bold"/>
              </a:rPr>
              <a:t>6. Average Customer Rating: 3.92 out of 5</a:t>
            </a:r>
          </a:p>
          <a:p>
            <a:pPr algn="ctr">
              <a:lnSpc>
                <a:spcPts val="3433"/>
              </a:lnSpc>
            </a:pPr>
            <a:r>
              <a:rPr lang="en-US" sz="2452" b="true">
                <a:solidFill>
                  <a:srgbClr val="000000"/>
                </a:solidFill>
                <a:latin typeface="TT Fors Bold"/>
                <a:ea typeface="TT Fors Bold"/>
                <a:cs typeface="TT Fors Bold"/>
                <a:sym typeface="TT Fors Bold"/>
              </a:rPr>
              <a:t>The average rating suggests generally positive passenger feedback, although there is room for improvement.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543936" y="646641"/>
            <a:ext cx="822187" cy="82218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411356" y="159540"/>
            <a:ext cx="13847092" cy="2618576"/>
            <a:chOff x="0" y="0"/>
            <a:chExt cx="3646971" cy="689666"/>
          </a:xfrm>
        </p:grpSpPr>
        <p:sp>
          <p:nvSpPr>
            <p:cNvPr name="Freeform 18" id="18"/>
            <p:cNvSpPr/>
            <p:nvPr/>
          </p:nvSpPr>
          <p:spPr>
            <a:xfrm flipH="false" flipV="false" rot="0">
              <a:off x="0" y="0"/>
              <a:ext cx="3646971" cy="689666"/>
            </a:xfrm>
            <a:custGeom>
              <a:avLst/>
              <a:gdLst/>
              <a:ahLst/>
              <a:cxnLst/>
              <a:rect r="r" b="b" t="t" l="l"/>
              <a:pathLst>
                <a:path h="689666" w="3646971">
                  <a:moveTo>
                    <a:pt x="28514" y="0"/>
                  </a:moveTo>
                  <a:lnTo>
                    <a:pt x="3618457" y="0"/>
                  </a:lnTo>
                  <a:cubicBezTo>
                    <a:pt x="3626019" y="0"/>
                    <a:pt x="3633272" y="3004"/>
                    <a:pt x="3638619" y="8352"/>
                  </a:cubicBezTo>
                  <a:cubicBezTo>
                    <a:pt x="3643967" y="13699"/>
                    <a:pt x="3646971" y="20952"/>
                    <a:pt x="3646971" y="28514"/>
                  </a:cubicBezTo>
                  <a:lnTo>
                    <a:pt x="3646971" y="661152"/>
                  </a:lnTo>
                  <a:cubicBezTo>
                    <a:pt x="3646971" y="676900"/>
                    <a:pt x="3634205" y="689666"/>
                    <a:pt x="3618457" y="689666"/>
                  </a:cubicBezTo>
                  <a:lnTo>
                    <a:pt x="28514" y="689666"/>
                  </a:lnTo>
                  <a:cubicBezTo>
                    <a:pt x="20952" y="689666"/>
                    <a:pt x="13699" y="686662"/>
                    <a:pt x="8352" y="681315"/>
                  </a:cubicBezTo>
                  <a:cubicBezTo>
                    <a:pt x="3004" y="675967"/>
                    <a:pt x="0" y="668715"/>
                    <a:pt x="0" y="661152"/>
                  </a:cubicBezTo>
                  <a:lnTo>
                    <a:pt x="0" y="28514"/>
                  </a:lnTo>
                  <a:cubicBezTo>
                    <a:pt x="0" y="20952"/>
                    <a:pt x="3004" y="13699"/>
                    <a:pt x="8352" y="8352"/>
                  </a:cubicBezTo>
                  <a:cubicBezTo>
                    <a:pt x="13699" y="3004"/>
                    <a:pt x="20952" y="0"/>
                    <a:pt x="28514" y="0"/>
                  </a:cubicBezTo>
                  <a:close/>
                </a:path>
              </a:pathLst>
            </a:custGeom>
            <a:solidFill>
              <a:srgbClr val="343434"/>
            </a:solidFill>
            <a:ln cap="rnd">
              <a:noFill/>
              <a:prstDash val="solid"/>
              <a:round/>
            </a:ln>
          </p:spPr>
        </p:sp>
        <p:sp>
          <p:nvSpPr>
            <p:cNvPr name="TextBox 19" id="19"/>
            <p:cNvSpPr txBox="true"/>
            <p:nvPr/>
          </p:nvSpPr>
          <p:spPr>
            <a:xfrm>
              <a:off x="0" y="-38100"/>
              <a:ext cx="3646971" cy="7277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5425164" y="2431011"/>
            <a:ext cx="1838981" cy="1765422"/>
          </a:xfrm>
          <a:custGeom>
            <a:avLst/>
            <a:gdLst/>
            <a:ahLst/>
            <a:cxnLst/>
            <a:rect r="r" b="b" t="t" l="l"/>
            <a:pathLst>
              <a:path h="1765422" w="1838981">
                <a:moveTo>
                  <a:pt x="0" y="0"/>
                </a:moveTo>
                <a:lnTo>
                  <a:pt x="1838980" y="0"/>
                </a:lnTo>
                <a:lnTo>
                  <a:pt x="1838980" y="1765422"/>
                </a:lnTo>
                <a:lnTo>
                  <a:pt x="0" y="17654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285451" y="6476193"/>
            <a:ext cx="1322898" cy="1418312"/>
          </a:xfrm>
          <a:custGeom>
            <a:avLst/>
            <a:gdLst/>
            <a:ahLst/>
            <a:cxnLst/>
            <a:rect r="r" b="b" t="t" l="l"/>
            <a:pathLst>
              <a:path h="1418312" w="1322898">
                <a:moveTo>
                  <a:pt x="0" y="0"/>
                </a:moveTo>
                <a:lnTo>
                  <a:pt x="1322898" y="0"/>
                </a:lnTo>
                <a:lnTo>
                  <a:pt x="1322898" y="1418312"/>
                </a:lnTo>
                <a:lnTo>
                  <a:pt x="0" y="14183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1979415" y="4566003"/>
            <a:ext cx="5238781" cy="4089160"/>
          </a:xfrm>
          <a:custGeom>
            <a:avLst/>
            <a:gdLst/>
            <a:ahLst/>
            <a:cxnLst/>
            <a:rect r="r" b="b" t="t" l="l"/>
            <a:pathLst>
              <a:path h="4089160" w="5238781">
                <a:moveTo>
                  <a:pt x="0" y="0"/>
                </a:moveTo>
                <a:lnTo>
                  <a:pt x="5238781" y="0"/>
                </a:lnTo>
                <a:lnTo>
                  <a:pt x="5238781" y="4089160"/>
                </a:lnTo>
                <a:lnTo>
                  <a:pt x="0" y="4089160"/>
                </a:lnTo>
                <a:lnTo>
                  <a:pt x="0" y="0"/>
                </a:lnTo>
                <a:close/>
              </a:path>
            </a:pathLst>
          </a:custGeom>
          <a:blipFill>
            <a:blip r:embed="rId8"/>
            <a:stretch>
              <a:fillRect l="0" t="0" r="0" b="0"/>
            </a:stretch>
          </a:blipFill>
        </p:spPr>
      </p:sp>
      <p:sp>
        <p:nvSpPr>
          <p:cNvPr name="TextBox 23" id="23"/>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4" id="24"/>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03</a:t>
            </a:r>
          </a:p>
        </p:txBody>
      </p:sp>
      <p:sp>
        <p:nvSpPr>
          <p:cNvPr name="TextBox 25" id="25"/>
          <p:cNvSpPr txBox="true"/>
          <p:nvPr/>
        </p:nvSpPr>
        <p:spPr>
          <a:xfrm rot="0">
            <a:off x="1028700" y="379349"/>
            <a:ext cx="12562327"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Revenue analysis </a:t>
            </a:r>
          </a:p>
        </p:txBody>
      </p:sp>
      <p:sp>
        <p:nvSpPr>
          <p:cNvPr name="TextBox 26" id="26"/>
          <p:cNvSpPr txBox="true"/>
          <p:nvPr/>
        </p:nvSpPr>
        <p:spPr>
          <a:xfrm rot="0">
            <a:off x="77726" y="3171505"/>
            <a:ext cx="15697866" cy="1252504"/>
          </a:xfrm>
          <a:prstGeom prst="rect">
            <a:avLst/>
          </a:prstGeom>
        </p:spPr>
        <p:txBody>
          <a:bodyPr anchor="t" rtlCol="false" tIns="0" lIns="0" bIns="0" rIns="0">
            <a:spAutoFit/>
          </a:bodyPr>
          <a:lstStyle/>
          <a:p>
            <a:pPr algn="ctr">
              <a:lnSpc>
                <a:spcPts val="3364"/>
              </a:lnSpc>
            </a:pPr>
            <a:r>
              <a:rPr lang="en-US" sz="2403" b="true">
                <a:solidFill>
                  <a:srgbClr val="000000"/>
                </a:solidFill>
                <a:latin typeface="TT Fors Bold"/>
                <a:ea typeface="TT Fors Bold"/>
                <a:cs typeface="TT Fors Bold"/>
                <a:sym typeface="TT Fors Bold"/>
              </a:rPr>
              <a:t>Revenue analysis examines the financial performance of different airlines and identifies which airlines contribute the most to total revenue.</a:t>
            </a:r>
          </a:p>
          <a:p>
            <a:pPr algn="ctr">
              <a:lnSpc>
                <a:spcPts val="3364"/>
              </a:lnSpc>
            </a:pPr>
            <a:r>
              <a:rPr lang="en-US" sz="2403" b="true">
                <a:solidFill>
                  <a:srgbClr val="000000"/>
                </a:solidFill>
                <a:latin typeface="TT Fors Bold"/>
                <a:ea typeface="TT Fors Bold"/>
                <a:cs typeface="TT Fors Bold"/>
                <a:sym typeface="TT Fors Bold"/>
              </a:rPr>
              <a:t>According to the dataset, the total recorded revenue is approximately ₹69.49 crore</a:t>
            </a:r>
          </a:p>
        </p:txBody>
      </p:sp>
      <p:sp>
        <p:nvSpPr>
          <p:cNvPr name="TextBox 27" id="27"/>
          <p:cNvSpPr txBox="true"/>
          <p:nvPr/>
        </p:nvSpPr>
        <p:spPr>
          <a:xfrm rot="0">
            <a:off x="2676799" y="4518290"/>
            <a:ext cx="9491464" cy="3453130"/>
          </a:xfrm>
          <a:prstGeom prst="rect">
            <a:avLst/>
          </a:prstGeom>
        </p:spPr>
        <p:txBody>
          <a:bodyPr anchor="t" rtlCol="false" tIns="0" lIns="0" bIns="0" rIns="0">
            <a:spAutoFit/>
          </a:bodyPr>
          <a:lstStyle/>
          <a:p>
            <a:pPr algn="ctr">
              <a:lnSpc>
                <a:spcPts val="3919"/>
              </a:lnSpc>
            </a:pPr>
            <a:r>
              <a:rPr lang="en-US" sz="2799" b="true">
                <a:solidFill>
                  <a:srgbClr val="000000"/>
                </a:solidFill>
                <a:latin typeface="TT Fors Bold"/>
                <a:ea typeface="TT Fors Bold"/>
                <a:cs typeface="TT Fors Bold"/>
                <a:sym typeface="TT Fors Bold"/>
              </a:rPr>
              <a:t>The revenue generated by each airline is as follows:</a:t>
            </a:r>
          </a:p>
          <a:p>
            <a:pPr algn="ctr">
              <a:lnSpc>
                <a:spcPts val="3919"/>
              </a:lnSpc>
            </a:pPr>
            <a:r>
              <a:rPr lang="en-US" sz="2799" b="true">
                <a:solidFill>
                  <a:srgbClr val="000000"/>
                </a:solidFill>
                <a:latin typeface="TT Fors Bold"/>
                <a:ea typeface="TT Fors Bold"/>
                <a:cs typeface="TT Fors Bold"/>
                <a:sym typeface="TT Fors Bold"/>
              </a:rPr>
              <a:t>Air India Express: ₹15.35 crore</a:t>
            </a:r>
          </a:p>
          <a:p>
            <a:pPr algn="ctr">
              <a:lnSpc>
                <a:spcPts val="3919"/>
              </a:lnSpc>
            </a:pPr>
            <a:r>
              <a:rPr lang="en-US" sz="2799" b="true">
                <a:solidFill>
                  <a:srgbClr val="000000"/>
                </a:solidFill>
                <a:latin typeface="TT Fors Bold"/>
                <a:ea typeface="TT Fors Bold"/>
                <a:cs typeface="TT Fors Bold"/>
                <a:sym typeface="TT Fors Bold"/>
              </a:rPr>
              <a:t>Air India: ₹12.03 crore</a:t>
            </a:r>
          </a:p>
          <a:p>
            <a:pPr algn="ctr">
              <a:lnSpc>
                <a:spcPts val="3919"/>
              </a:lnSpc>
            </a:pPr>
            <a:r>
              <a:rPr lang="en-US" sz="2799" b="true">
                <a:solidFill>
                  <a:srgbClr val="000000"/>
                </a:solidFill>
                <a:latin typeface="TT Fors Bold"/>
                <a:ea typeface="TT Fors Bold"/>
                <a:cs typeface="TT Fors Bold"/>
                <a:sym typeface="TT Fors Bold"/>
              </a:rPr>
              <a:t>Akasa Air: ₹10.76 crore</a:t>
            </a:r>
          </a:p>
          <a:p>
            <a:pPr algn="ctr">
              <a:lnSpc>
                <a:spcPts val="3919"/>
              </a:lnSpc>
            </a:pPr>
            <a:r>
              <a:rPr lang="en-US" sz="2799" b="true">
                <a:solidFill>
                  <a:srgbClr val="000000"/>
                </a:solidFill>
                <a:latin typeface="TT Fors Bold"/>
                <a:ea typeface="TT Fors Bold"/>
                <a:cs typeface="TT Fors Bold"/>
                <a:sym typeface="TT Fors Bold"/>
              </a:rPr>
              <a:t>SpiceJet: ₹10.74 crore</a:t>
            </a:r>
          </a:p>
          <a:p>
            <a:pPr algn="ctr">
              <a:lnSpc>
                <a:spcPts val="3919"/>
              </a:lnSpc>
            </a:pPr>
            <a:r>
              <a:rPr lang="en-US" sz="2799" b="true">
                <a:solidFill>
                  <a:srgbClr val="000000"/>
                </a:solidFill>
                <a:latin typeface="TT Fors Bold"/>
                <a:ea typeface="TT Fors Bold"/>
                <a:cs typeface="TT Fors Bold"/>
                <a:sym typeface="TT Fors Bold"/>
              </a:rPr>
              <a:t>IndiGo: ₹10.64 crore</a:t>
            </a:r>
          </a:p>
          <a:p>
            <a:pPr algn="ctr">
              <a:lnSpc>
                <a:spcPts val="3919"/>
              </a:lnSpc>
            </a:pPr>
            <a:r>
              <a:rPr lang="en-US" sz="2799" b="true">
                <a:solidFill>
                  <a:srgbClr val="000000"/>
                </a:solidFill>
                <a:latin typeface="TT Fors Bold"/>
                <a:ea typeface="TT Fors Bold"/>
                <a:cs typeface="TT Fors Bold"/>
                <a:sym typeface="TT Fors Bold"/>
              </a:rPr>
              <a:t>Vistara: ₹9.97 crore</a:t>
            </a:r>
          </a:p>
        </p:txBody>
      </p:sp>
      <p:sp>
        <p:nvSpPr>
          <p:cNvPr name="TextBox 28" id="28"/>
          <p:cNvSpPr txBox="true"/>
          <p:nvPr/>
        </p:nvSpPr>
        <p:spPr>
          <a:xfrm rot="0">
            <a:off x="-18921" y="8657566"/>
            <a:ext cx="15366122" cy="1226840"/>
          </a:xfrm>
          <a:prstGeom prst="rect">
            <a:avLst/>
          </a:prstGeom>
        </p:spPr>
        <p:txBody>
          <a:bodyPr anchor="t" rtlCol="false" tIns="0" lIns="0" bIns="0" rIns="0">
            <a:spAutoFit/>
          </a:bodyPr>
          <a:lstStyle/>
          <a:p>
            <a:pPr algn="ctr">
              <a:lnSpc>
                <a:spcPts val="3293"/>
              </a:lnSpc>
            </a:pPr>
            <a:r>
              <a:rPr lang="en-US" sz="2352" b="true">
                <a:solidFill>
                  <a:srgbClr val="000000"/>
                </a:solidFill>
                <a:latin typeface="TT Fors Bold"/>
                <a:ea typeface="TT Fors Bold"/>
                <a:cs typeface="TT Fors Bold"/>
                <a:sym typeface="TT Fors Bold"/>
              </a:rPr>
              <a:t>Analysis:</a:t>
            </a:r>
          </a:p>
          <a:p>
            <a:pPr algn="ctr">
              <a:lnSpc>
                <a:spcPts val="3293"/>
              </a:lnSpc>
            </a:pPr>
            <a:r>
              <a:rPr lang="en-US" sz="2352" b="true">
                <a:solidFill>
                  <a:srgbClr val="000000"/>
                </a:solidFill>
                <a:latin typeface="TT Fors Bold"/>
                <a:ea typeface="TT Fors Bold"/>
                <a:cs typeface="TT Fors Bold"/>
                <a:sym typeface="TT Fors Bold"/>
              </a:rPr>
              <a:t>Air India Express recorded the highest total revenue among the airlines in this dataset, while Vistara recorded the lowest.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543936" y="646641"/>
            <a:ext cx="822187" cy="82218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1449680" y="3683542"/>
            <a:ext cx="5911442" cy="3431920"/>
          </a:xfrm>
          <a:custGeom>
            <a:avLst/>
            <a:gdLst/>
            <a:ahLst/>
            <a:cxnLst/>
            <a:rect r="r" b="b" t="t" l="l"/>
            <a:pathLst>
              <a:path h="3431920" w="5911442">
                <a:moveTo>
                  <a:pt x="0" y="0"/>
                </a:moveTo>
                <a:lnTo>
                  <a:pt x="5911442" y="0"/>
                </a:lnTo>
                <a:lnTo>
                  <a:pt x="5911442" y="3431920"/>
                </a:lnTo>
                <a:lnTo>
                  <a:pt x="0" y="3431920"/>
                </a:lnTo>
                <a:lnTo>
                  <a:pt x="0" y="0"/>
                </a:lnTo>
                <a:close/>
              </a:path>
            </a:pathLst>
          </a:custGeom>
          <a:blipFill>
            <a:blip r:embed="rId4"/>
            <a:stretch>
              <a:fillRect l="0" t="0" r="0" b="0"/>
            </a:stretch>
          </a:blipFill>
        </p:spPr>
      </p:sp>
      <p:sp>
        <p:nvSpPr>
          <p:cNvPr name="TextBox 18" id="18"/>
          <p:cNvSpPr txBox="true"/>
          <p:nvPr/>
        </p:nvSpPr>
        <p:spPr>
          <a:xfrm rot="0">
            <a:off x="478647" y="649052"/>
            <a:ext cx="9500055" cy="1799046"/>
          </a:xfrm>
          <a:prstGeom prst="rect">
            <a:avLst/>
          </a:prstGeom>
        </p:spPr>
        <p:txBody>
          <a:bodyPr anchor="t" rtlCol="false" tIns="0" lIns="0" bIns="0" rIns="0">
            <a:spAutoFit/>
          </a:bodyPr>
          <a:lstStyle/>
          <a:p>
            <a:pPr algn="l">
              <a:lnSpc>
                <a:spcPts val="6647"/>
              </a:lnSpc>
            </a:pPr>
            <a:r>
              <a:rPr lang="en-US" sz="8308">
                <a:solidFill>
                  <a:srgbClr val="3A3E61"/>
                </a:solidFill>
                <a:latin typeface="Extenda 90 Exa"/>
                <a:ea typeface="Extenda 90 Exa"/>
                <a:cs typeface="Extenda 90 Exa"/>
                <a:sym typeface="Extenda 90 Exa"/>
              </a:rPr>
              <a:t>Flight Status Analysis</a:t>
            </a:r>
          </a:p>
        </p:txBody>
      </p:sp>
      <p:sp>
        <p:nvSpPr>
          <p:cNvPr name="TextBox 19" id="19"/>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0" id="20"/>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04</a:t>
            </a:r>
          </a:p>
        </p:txBody>
      </p:sp>
      <p:sp>
        <p:nvSpPr>
          <p:cNvPr name="TextBox 21" id="21"/>
          <p:cNvSpPr txBox="true"/>
          <p:nvPr/>
        </p:nvSpPr>
        <p:spPr>
          <a:xfrm rot="0">
            <a:off x="207475" y="2482282"/>
            <a:ext cx="13461348" cy="3323720"/>
          </a:xfrm>
          <a:prstGeom prst="rect">
            <a:avLst/>
          </a:prstGeom>
        </p:spPr>
        <p:txBody>
          <a:bodyPr anchor="t" rtlCol="false" tIns="0" lIns="0" bIns="0" rIns="0">
            <a:spAutoFit/>
          </a:bodyPr>
          <a:lstStyle/>
          <a:p>
            <a:pPr algn="ctr">
              <a:lnSpc>
                <a:spcPts val="2936"/>
              </a:lnSpc>
            </a:pPr>
            <a:r>
              <a:rPr lang="en-US" sz="2097" b="true">
                <a:solidFill>
                  <a:srgbClr val="000000"/>
                </a:solidFill>
                <a:latin typeface="TT Fors Bold"/>
                <a:ea typeface="TT Fors Bold"/>
                <a:cs typeface="TT Fors Bold"/>
                <a:sym typeface="TT Fors Bold"/>
              </a:rPr>
              <a:t>Flight status analysis examines how many flights were recorded as on time, delayed, or cancelled.</a:t>
            </a:r>
          </a:p>
          <a:p>
            <a:pPr algn="ctr">
              <a:lnSpc>
                <a:spcPts val="2936"/>
              </a:lnSpc>
            </a:pPr>
            <a:r>
              <a:rPr lang="en-US" sz="2097" b="true">
                <a:solidFill>
                  <a:srgbClr val="000000"/>
                </a:solidFill>
                <a:latin typeface="TT Fors Bold"/>
                <a:ea typeface="TT Fors Bold"/>
                <a:cs typeface="TT Fors Bold"/>
                <a:sym typeface="TT Fors Bold"/>
              </a:rPr>
              <a:t>The dataset contains the following flight status distribution:</a:t>
            </a:r>
          </a:p>
          <a:p>
            <a:pPr algn="ctr">
              <a:lnSpc>
                <a:spcPts val="2936"/>
              </a:lnSpc>
            </a:pPr>
            <a:r>
              <a:rPr lang="en-US" sz="2097" b="true">
                <a:solidFill>
                  <a:srgbClr val="000000"/>
                </a:solidFill>
                <a:latin typeface="TT Fors Bold"/>
                <a:ea typeface="TT Fors Bold"/>
                <a:cs typeface="TT Fors Bold"/>
                <a:sym typeface="TT Fors Bold"/>
              </a:rPr>
              <a:t>On-Time Flights: 373 flights</a:t>
            </a:r>
          </a:p>
          <a:p>
            <a:pPr algn="ctr">
              <a:lnSpc>
                <a:spcPts val="2936"/>
              </a:lnSpc>
            </a:pPr>
            <a:r>
              <a:rPr lang="en-US" sz="2097" b="true">
                <a:solidFill>
                  <a:srgbClr val="000000"/>
                </a:solidFill>
                <a:latin typeface="TT Fors Bold"/>
                <a:ea typeface="TT Fors Bold"/>
                <a:cs typeface="TT Fors Bold"/>
                <a:sym typeface="TT Fors Bold"/>
              </a:rPr>
              <a:t>Delayed Flights: 109 flights</a:t>
            </a:r>
          </a:p>
          <a:p>
            <a:pPr algn="ctr">
              <a:lnSpc>
                <a:spcPts val="2936"/>
              </a:lnSpc>
            </a:pPr>
            <a:r>
              <a:rPr lang="en-US" sz="2097" b="true">
                <a:solidFill>
                  <a:srgbClr val="000000"/>
                </a:solidFill>
                <a:latin typeface="TT Fors Bold"/>
                <a:ea typeface="TT Fors Bold"/>
                <a:cs typeface="TT Fors Bold"/>
                <a:sym typeface="TT Fors Bold"/>
              </a:rPr>
              <a:t>Cancelled Flights: 18 flights</a:t>
            </a:r>
          </a:p>
          <a:p>
            <a:pPr algn="ctr">
              <a:lnSpc>
                <a:spcPts val="2936"/>
              </a:lnSpc>
            </a:pPr>
            <a:r>
              <a:rPr lang="en-US" sz="2097" b="true">
                <a:solidFill>
                  <a:srgbClr val="000000"/>
                </a:solidFill>
                <a:latin typeface="TT Fors Bold"/>
                <a:ea typeface="TT Fors Bold"/>
                <a:cs typeface="TT Fors Bold"/>
                <a:sym typeface="TT Fors Bold"/>
              </a:rPr>
              <a:t>The percentages are approximately:</a:t>
            </a:r>
          </a:p>
          <a:p>
            <a:pPr algn="ctr">
              <a:lnSpc>
                <a:spcPts val="2936"/>
              </a:lnSpc>
            </a:pPr>
            <a:r>
              <a:rPr lang="en-US" sz="2097" b="true">
                <a:solidFill>
                  <a:srgbClr val="000000"/>
                </a:solidFill>
                <a:latin typeface="TT Fors Bold"/>
                <a:ea typeface="TT Fors Bold"/>
                <a:cs typeface="TT Fors Bold"/>
                <a:sym typeface="TT Fors Bold"/>
              </a:rPr>
              <a:t>On time: 74.6%</a:t>
            </a:r>
          </a:p>
          <a:p>
            <a:pPr algn="ctr">
              <a:lnSpc>
                <a:spcPts val="2936"/>
              </a:lnSpc>
            </a:pPr>
            <a:r>
              <a:rPr lang="en-US" sz="2097" b="true">
                <a:solidFill>
                  <a:srgbClr val="000000"/>
                </a:solidFill>
                <a:latin typeface="TT Fors Bold"/>
                <a:ea typeface="TT Fors Bold"/>
                <a:cs typeface="TT Fors Bold"/>
                <a:sym typeface="TT Fors Bold"/>
              </a:rPr>
              <a:t>Delayed: 21.8%</a:t>
            </a:r>
          </a:p>
          <a:p>
            <a:pPr algn="ctr">
              <a:lnSpc>
                <a:spcPts val="2936"/>
              </a:lnSpc>
            </a:pPr>
            <a:r>
              <a:rPr lang="en-US" sz="2097" b="true">
                <a:solidFill>
                  <a:srgbClr val="000000"/>
                </a:solidFill>
                <a:latin typeface="TT Fors Bold"/>
                <a:ea typeface="TT Fors Bold"/>
                <a:cs typeface="TT Fors Bold"/>
                <a:sym typeface="TT Fors Bold"/>
              </a:rPr>
              <a:t>Cancelled: 3.6%</a:t>
            </a:r>
          </a:p>
        </p:txBody>
      </p:sp>
      <p:sp>
        <p:nvSpPr>
          <p:cNvPr name="TextBox 22" id="22"/>
          <p:cNvSpPr txBox="true"/>
          <p:nvPr/>
        </p:nvSpPr>
        <p:spPr>
          <a:xfrm rot="0">
            <a:off x="579646" y="6057601"/>
            <a:ext cx="11115344" cy="2403198"/>
          </a:xfrm>
          <a:prstGeom prst="rect">
            <a:avLst/>
          </a:prstGeom>
        </p:spPr>
        <p:txBody>
          <a:bodyPr anchor="t" rtlCol="false" tIns="0" lIns="0" bIns="0" rIns="0">
            <a:spAutoFit/>
          </a:bodyPr>
          <a:lstStyle/>
          <a:p>
            <a:pPr algn="ctr">
              <a:lnSpc>
                <a:spcPts val="2382"/>
              </a:lnSpc>
            </a:pPr>
            <a:r>
              <a:rPr lang="en-US" sz="1701" b="true">
                <a:solidFill>
                  <a:srgbClr val="000000"/>
                </a:solidFill>
                <a:latin typeface="TT Fors Bold"/>
                <a:ea typeface="TT Fors Bold"/>
                <a:cs typeface="TT Fors Bold"/>
                <a:sym typeface="TT Fors Bold"/>
              </a:rPr>
              <a:t>Analysis:</a:t>
            </a:r>
          </a:p>
          <a:p>
            <a:pPr algn="ctr">
              <a:lnSpc>
                <a:spcPts val="2382"/>
              </a:lnSpc>
            </a:pPr>
            <a:r>
              <a:rPr lang="en-US" sz="1701" b="true">
                <a:solidFill>
                  <a:srgbClr val="000000"/>
                </a:solidFill>
                <a:latin typeface="TT Fors Bold"/>
                <a:ea typeface="TT Fors Bold"/>
                <a:cs typeface="TT Fors Bold"/>
                <a:sym typeface="TT Fors Bold"/>
              </a:rPr>
              <a:t>The majority of flights were recorded as on time, representing 74.6% of all flight records.</a:t>
            </a:r>
          </a:p>
          <a:p>
            <a:pPr algn="ctr">
              <a:lnSpc>
                <a:spcPts val="2382"/>
              </a:lnSpc>
            </a:pPr>
            <a:r>
              <a:rPr lang="en-US" sz="1701" b="true">
                <a:solidFill>
                  <a:srgbClr val="000000"/>
                </a:solidFill>
                <a:latin typeface="TT Fors Bold"/>
                <a:ea typeface="TT Fors Bold"/>
                <a:cs typeface="TT Fors Bold"/>
                <a:sym typeface="TT Fors Bold"/>
              </a:rPr>
              <a:t>However, 21.8% of flights were classified as delayed, indicating an opportunity to investigate operational inefficiencies.</a:t>
            </a:r>
          </a:p>
          <a:p>
            <a:pPr algn="ctr">
              <a:lnSpc>
                <a:spcPts val="2382"/>
              </a:lnSpc>
            </a:pPr>
            <a:r>
              <a:rPr lang="en-US" sz="1701" b="true">
                <a:solidFill>
                  <a:srgbClr val="000000"/>
                </a:solidFill>
                <a:latin typeface="TT Fors Bold"/>
                <a:ea typeface="TT Fors Bold"/>
                <a:cs typeface="TT Fors Bold"/>
                <a:sym typeface="TT Fors Bold"/>
              </a:rPr>
              <a:t>The remaining 3.6% were cancelled.</a:t>
            </a:r>
          </a:p>
          <a:p>
            <a:pPr algn="ctr">
              <a:lnSpc>
                <a:spcPts val="2382"/>
              </a:lnSpc>
            </a:pPr>
            <a:r>
              <a:rPr lang="en-US" sz="1701" b="true">
                <a:solidFill>
                  <a:srgbClr val="000000"/>
                </a:solidFill>
                <a:latin typeface="TT Fors Bold"/>
                <a:ea typeface="TT Fors Bold"/>
                <a:cs typeface="TT Fors Bold"/>
                <a:sym typeface="TT Fors Bold"/>
              </a:rPr>
              <a:t>Airlines can use this information to identify patterns in delays and cancellations and investigate possible causes, such as scheduling issues, weather conditions, or operational constraints. The dataset alone does not establish the actual causes.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0"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543936" y="646641"/>
            <a:ext cx="822187" cy="82218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088073" y="2808249"/>
            <a:ext cx="5592488" cy="3976880"/>
          </a:xfrm>
          <a:custGeom>
            <a:avLst/>
            <a:gdLst/>
            <a:ahLst/>
            <a:cxnLst/>
            <a:rect r="r" b="b" t="t" l="l"/>
            <a:pathLst>
              <a:path h="3976880" w="5592488">
                <a:moveTo>
                  <a:pt x="0" y="0"/>
                </a:moveTo>
                <a:lnTo>
                  <a:pt x="5592488" y="0"/>
                </a:lnTo>
                <a:lnTo>
                  <a:pt x="5592488" y="3976880"/>
                </a:lnTo>
                <a:lnTo>
                  <a:pt x="0" y="3976880"/>
                </a:lnTo>
                <a:lnTo>
                  <a:pt x="0" y="0"/>
                </a:lnTo>
                <a:close/>
              </a:path>
            </a:pathLst>
          </a:custGeom>
          <a:blipFill>
            <a:blip r:embed="rId4"/>
            <a:stretch>
              <a:fillRect l="0" t="0" r="0" b="0"/>
            </a:stretch>
          </a:blipFill>
        </p:spPr>
      </p:sp>
      <p:sp>
        <p:nvSpPr>
          <p:cNvPr name="TextBox 18" id="18"/>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19" id="19"/>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05</a:t>
            </a:r>
          </a:p>
        </p:txBody>
      </p:sp>
      <p:sp>
        <p:nvSpPr>
          <p:cNvPr name="TextBox 20" id="20"/>
          <p:cNvSpPr txBox="true"/>
          <p:nvPr/>
        </p:nvSpPr>
        <p:spPr>
          <a:xfrm rot="0">
            <a:off x="0" y="159703"/>
            <a:ext cx="7204373"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Key Findings</a:t>
            </a:r>
          </a:p>
        </p:txBody>
      </p:sp>
      <p:sp>
        <p:nvSpPr>
          <p:cNvPr name="TextBox 21" id="21"/>
          <p:cNvSpPr txBox="true"/>
          <p:nvPr/>
        </p:nvSpPr>
        <p:spPr>
          <a:xfrm rot="0">
            <a:off x="223449" y="1913943"/>
            <a:ext cx="11687021" cy="2208315"/>
          </a:xfrm>
          <a:prstGeom prst="rect">
            <a:avLst/>
          </a:prstGeom>
        </p:spPr>
        <p:txBody>
          <a:bodyPr anchor="t" rtlCol="false" tIns="0" lIns="0" bIns="0" rIns="0">
            <a:spAutoFit/>
          </a:bodyPr>
          <a:lstStyle/>
          <a:p>
            <a:pPr algn="ctr">
              <a:lnSpc>
                <a:spcPts val="2505"/>
              </a:lnSpc>
            </a:pPr>
            <a:r>
              <a:rPr lang="en-US" sz="1789" b="true">
                <a:solidFill>
                  <a:srgbClr val="000000"/>
                </a:solidFill>
                <a:latin typeface="TT Fors Bold"/>
                <a:ea typeface="TT Fors Bold"/>
                <a:cs typeface="TT Fors Bold"/>
                <a:sym typeface="TT Fors Bold"/>
              </a:rPr>
              <a:t>The analysis of the Airline Flight Performance Dashboard reveals several important findings:</a:t>
            </a:r>
          </a:p>
          <a:p>
            <a:pPr algn="ctr">
              <a:lnSpc>
                <a:spcPts val="2505"/>
              </a:lnSpc>
            </a:pPr>
            <a:r>
              <a:rPr lang="en-US" sz="1789" b="true">
                <a:solidFill>
                  <a:srgbClr val="000000"/>
                </a:solidFill>
                <a:latin typeface="TT Fors Bold"/>
                <a:ea typeface="TT Fors Bold"/>
                <a:cs typeface="TT Fors Bold"/>
                <a:sym typeface="TT Fors Bold"/>
              </a:rPr>
              <a:t>1. Strong Recorded Revenue</a:t>
            </a:r>
          </a:p>
          <a:p>
            <a:pPr algn="ctr">
              <a:lnSpc>
                <a:spcPts val="2505"/>
              </a:lnSpc>
            </a:pPr>
            <a:r>
              <a:rPr lang="en-US" sz="1789" b="true">
                <a:solidFill>
                  <a:srgbClr val="000000"/>
                </a:solidFill>
                <a:latin typeface="TT Fors Bold"/>
                <a:ea typeface="TT Fors Bold"/>
                <a:cs typeface="TT Fors Bold"/>
                <a:sym typeface="TT Fors Bold"/>
              </a:rPr>
              <a:t>The dataset shows total revenue of approximately ₹69.49 crore, demonstrating the financial scale of the recorded flight operations.</a:t>
            </a:r>
          </a:p>
          <a:p>
            <a:pPr algn="ctr">
              <a:lnSpc>
                <a:spcPts val="2505"/>
              </a:lnSpc>
            </a:pPr>
            <a:r>
              <a:rPr lang="en-US" sz="1789" b="true">
                <a:solidFill>
                  <a:srgbClr val="000000"/>
                </a:solidFill>
                <a:latin typeface="TT Fors Bold"/>
                <a:ea typeface="TT Fors Bold"/>
                <a:cs typeface="TT Fors Bold"/>
                <a:sym typeface="TT Fors Bold"/>
              </a:rPr>
              <a:t>2. Air India Express Leads in Revenue</a:t>
            </a:r>
          </a:p>
          <a:p>
            <a:pPr algn="ctr">
              <a:lnSpc>
                <a:spcPts val="2505"/>
              </a:lnSpc>
            </a:pPr>
            <a:r>
              <a:rPr lang="en-US" sz="1789" b="true">
                <a:solidFill>
                  <a:srgbClr val="000000"/>
                </a:solidFill>
                <a:latin typeface="TT Fors Bold"/>
                <a:ea typeface="TT Fors Bold"/>
                <a:cs typeface="TT Fors Bold"/>
                <a:sym typeface="TT Fors Bold"/>
              </a:rPr>
              <a:t>Air India Express generated the highest recorded revenue among the six airlines, contributing approximately ₹15.35 crore.</a:t>
            </a:r>
          </a:p>
        </p:txBody>
      </p:sp>
      <p:sp>
        <p:nvSpPr>
          <p:cNvPr name="TextBox 22" id="22"/>
          <p:cNvSpPr txBox="true"/>
          <p:nvPr/>
        </p:nvSpPr>
        <p:spPr>
          <a:xfrm rot="0">
            <a:off x="80194" y="4184545"/>
            <a:ext cx="11622732" cy="2816416"/>
          </a:xfrm>
          <a:prstGeom prst="rect">
            <a:avLst/>
          </a:prstGeom>
        </p:spPr>
        <p:txBody>
          <a:bodyPr anchor="t" rtlCol="false" tIns="0" lIns="0" bIns="0" rIns="0">
            <a:spAutoFit/>
          </a:bodyPr>
          <a:lstStyle/>
          <a:p>
            <a:pPr algn="ctr">
              <a:lnSpc>
                <a:spcPts val="2491"/>
              </a:lnSpc>
            </a:pPr>
            <a:r>
              <a:rPr lang="en-US" sz="1779" b="true">
                <a:solidFill>
                  <a:srgbClr val="000000"/>
                </a:solidFill>
                <a:latin typeface="TT Fors Bold"/>
                <a:ea typeface="TT Fors Bold"/>
                <a:cs typeface="TT Fors Bold"/>
                <a:sym typeface="TT Fors Bold"/>
              </a:rPr>
              <a:t>3. Most Flights Were On Time</a:t>
            </a:r>
          </a:p>
          <a:p>
            <a:pPr algn="ctr">
              <a:lnSpc>
                <a:spcPts val="2491"/>
              </a:lnSpc>
            </a:pPr>
            <a:r>
              <a:rPr lang="en-US" sz="1779" b="true">
                <a:solidFill>
                  <a:srgbClr val="000000"/>
                </a:solidFill>
                <a:latin typeface="TT Fors Bold"/>
                <a:ea typeface="TT Fors Bold"/>
                <a:cs typeface="TT Fors Bold"/>
                <a:sym typeface="TT Fors Bold"/>
              </a:rPr>
              <a:t>Approximately 74.6% of recorded flights were classified as on time, indicating that most flights met their recorded operational status.</a:t>
            </a:r>
          </a:p>
          <a:p>
            <a:pPr algn="ctr">
              <a:lnSpc>
                <a:spcPts val="2491"/>
              </a:lnSpc>
            </a:pPr>
            <a:r>
              <a:rPr lang="en-US" sz="1779" b="true">
                <a:solidFill>
                  <a:srgbClr val="000000"/>
                </a:solidFill>
                <a:latin typeface="TT Fors Bold"/>
                <a:ea typeface="TT Fors Bold"/>
                <a:cs typeface="TT Fors Bold"/>
                <a:sym typeface="TT Fors Bold"/>
              </a:rPr>
              <a:t>4. Flight Delays Require Attention</a:t>
            </a:r>
          </a:p>
          <a:p>
            <a:pPr algn="ctr">
              <a:lnSpc>
                <a:spcPts val="2491"/>
              </a:lnSpc>
            </a:pPr>
            <a:r>
              <a:rPr lang="en-US" sz="1779" b="true">
                <a:solidFill>
                  <a:srgbClr val="000000"/>
                </a:solidFill>
                <a:latin typeface="TT Fors Bold"/>
                <a:ea typeface="TT Fors Bold"/>
                <a:cs typeface="TT Fors Bold"/>
                <a:sym typeface="TT Fors Bold"/>
              </a:rPr>
              <a:t>Approximately 21.8% of flights were delayed. Further analysis could help identify airlines, routes, or periods associated with frequent delays.</a:t>
            </a:r>
          </a:p>
          <a:p>
            <a:pPr algn="ctr">
              <a:lnSpc>
                <a:spcPts val="2491"/>
              </a:lnSpc>
            </a:pPr>
            <a:r>
              <a:rPr lang="en-US" sz="1779" b="true">
                <a:solidFill>
                  <a:srgbClr val="000000"/>
                </a:solidFill>
                <a:latin typeface="TT Fors Bold"/>
                <a:ea typeface="TT Fors Bold"/>
                <a:cs typeface="TT Fors Bold"/>
                <a:sym typeface="TT Fors Bold"/>
              </a:rPr>
              <a:t>5. Good Passenger Occupancy</a:t>
            </a:r>
          </a:p>
          <a:p>
            <a:pPr algn="ctr">
              <a:lnSpc>
                <a:spcPts val="2491"/>
              </a:lnSpc>
            </a:pPr>
            <a:r>
              <a:rPr lang="en-US" sz="1779" b="true">
                <a:solidFill>
                  <a:srgbClr val="000000"/>
                </a:solidFill>
                <a:latin typeface="TT Fors Bold"/>
                <a:ea typeface="TT Fors Bold"/>
                <a:cs typeface="TT Fors Bold"/>
                <a:sym typeface="TT Fors Bold"/>
              </a:rPr>
              <a:t>The average load factor was 80.6%, suggesting that a substantial proportion of available seats were occupied.</a:t>
            </a:r>
          </a:p>
        </p:txBody>
      </p:sp>
      <p:sp>
        <p:nvSpPr>
          <p:cNvPr name="TextBox 23" id="23"/>
          <p:cNvSpPr txBox="true"/>
          <p:nvPr/>
        </p:nvSpPr>
        <p:spPr>
          <a:xfrm rot="0">
            <a:off x="480374" y="7045588"/>
            <a:ext cx="13652430" cy="2213052"/>
          </a:xfrm>
          <a:prstGeom prst="rect">
            <a:avLst/>
          </a:prstGeom>
        </p:spPr>
        <p:txBody>
          <a:bodyPr anchor="t" rtlCol="false" tIns="0" lIns="0" bIns="0" rIns="0">
            <a:spAutoFit/>
          </a:bodyPr>
          <a:lstStyle/>
          <a:p>
            <a:pPr algn="ctr">
              <a:lnSpc>
                <a:spcPts val="2926"/>
              </a:lnSpc>
            </a:pPr>
            <a:r>
              <a:rPr lang="en-US" sz="2090" b="true">
                <a:solidFill>
                  <a:srgbClr val="000000"/>
                </a:solidFill>
                <a:latin typeface="TT Fors Bold"/>
                <a:ea typeface="TT Fors Bold"/>
                <a:cs typeface="TT Fors Bold"/>
                <a:sym typeface="TT Fors Bold"/>
              </a:rPr>
              <a:t>6. Customer Satisfaction Can Be Improved</a:t>
            </a:r>
          </a:p>
          <a:p>
            <a:pPr algn="ctr">
              <a:lnSpc>
                <a:spcPts val="2926"/>
              </a:lnSpc>
            </a:pPr>
            <a:r>
              <a:rPr lang="en-US" sz="2090" b="true">
                <a:solidFill>
                  <a:srgbClr val="000000"/>
                </a:solidFill>
                <a:latin typeface="TT Fors Bold"/>
                <a:ea typeface="TT Fors Bold"/>
                <a:cs typeface="TT Fors Bold"/>
                <a:sym typeface="TT Fors Bold"/>
              </a:rPr>
              <a:t>The average customer rating was 3.92 out of 5. Airlines can investigate customer feedback, delays, and baggage-related issues to identify opportunities to improve the passenger experience.</a:t>
            </a:r>
          </a:p>
          <a:p>
            <a:pPr algn="ctr">
              <a:lnSpc>
                <a:spcPts val="2926"/>
              </a:lnSpc>
            </a:pPr>
            <a:r>
              <a:rPr lang="en-US" sz="2090" b="true">
                <a:solidFill>
                  <a:srgbClr val="000000"/>
                </a:solidFill>
                <a:latin typeface="TT Fors Bold"/>
                <a:ea typeface="TT Fors Bold"/>
                <a:cs typeface="TT Fors Bold"/>
                <a:sym typeface="TT Fors Bold"/>
              </a:rPr>
              <a:t>7. Financial and Operational Performance Should Be Evaluated Together</a:t>
            </a:r>
          </a:p>
          <a:p>
            <a:pPr algn="ctr">
              <a:lnSpc>
                <a:spcPts val="2926"/>
              </a:lnSpc>
            </a:pPr>
            <a:r>
              <a:rPr lang="en-US" sz="2090" b="true">
                <a:solidFill>
                  <a:srgbClr val="000000"/>
                </a:solidFill>
                <a:latin typeface="TT Fors Bold"/>
                <a:ea typeface="TT Fors Bold"/>
                <a:cs typeface="TT Fors Bold"/>
                <a:sym typeface="TT Fors Bold"/>
              </a:rPr>
              <a:t>Revenue alone does not provide a complete picture of airline performance. Profit, delays, passenger occupancy, and customer ratings should also be considered.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3035707" y="6898431"/>
            <a:ext cx="4778914" cy="3136162"/>
            <a:chOff x="0" y="0"/>
            <a:chExt cx="812800" cy="533400"/>
          </a:xfrm>
        </p:grpSpPr>
        <p:sp>
          <p:nvSpPr>
            <p:cNvPr name="Freeform 15" id="15"/>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blipFill>
              <a:blip r:embed="rId4"/>
              <a:stretch>
                <a:fillRect l="0" t="-761" r="0" b="-761"/>
              </a:stretch>
            </a:blipFill>
          </p:spPr>
        </p:sp>
      </p:grpSp>
      <p:sp>
        <p:nvSpPr>
          <p:cNvPr name="TextBox 16" id="16"/>
          <p:cNvSpPr txBox="true"/>
          <p:nvPr/>
        </p:nvSpPr>
        <p:spPr>
          <a:xfrm rot="0">
            <a:off x="134100" y="666832"/>
            <a:ext cx="10991409" cy="108775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Recommendation </a:t>
            </a:r>
          </a:p>
        </p:txBody>
      </p:sp>
      <p:sp>
        <p:nvSpPr>
          <p:cNvPr name="TextBox 17" id="17"/>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18" id="18"/>
          <p:cNvGrpSpPr/>
          <p:nvPr/>
        </p:nvGrpSpPr>
        <p:grpSpPr>
          <a:xfrm rot="0">
            <a:off x="16543936" y="646641"/>
            <a:ext cx="822187" cy="82218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06</a:t>
            </a:r>
          </a:p>
        </p:txBody>
      </p:sp>
      <p:sp>
        <p:nvSpPr>
          <p:cNvPr name="Freeform 22" id="22"/>
          <p:cNvSpPr/>
          <p:nvPr/>
        </p:nvSpPr>
        <p:spPr>
          <a:xfrm flipH="false" flipV="false" rot="0">
            <a:off x="11125509" y="199288"/>
            <a:ext cx="2615158" cy="2539081"/>
          </a:xfrm>
          <a:custGeom>
            <a:avLst/>
            <a:gdLst/>
            <a:ahLst/>
            <a:cxnLst/>
            <a:rect r="r" b="b" t="t" l="l"/>
            <a:pathLst>
              <a:path h="2539081" w="2615158">
                <a:moveTo>
                  <a:pt x="0" y="0"/>
                </a:moveTo>
                <a:lnTo>
                  <a:pt x="2615158" y="0"/>
                </a:lnTo>
                <a:lnTo>
                  <a:pt x="2615158" y="2539080"/>
                </a:lnTo>
                <a:lnTo>
                  <a:pt x="0" y="25390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503638" y="1440253"/>
            <a:ext cx="12532068" cy="2355711"/>
          </a:xfrm>
          <a:prstGeom prst="rect">
            <a:avLst/>
          </a:prstGeom>
        </p:spPr>
        <p:txBody>
          <a:bodyPr anchor="t" rtlCol="false" tIns="0" lIns="0" bIns="0" rIns="0">
            <a:spAutoFit/>
          </a:bodyPr>
          <a:lstStyle/>
          <a:p>
            <a:pPr algn="ctr">
              <a:lnSpc>
                <a:spcPts val="2686"/>
              </a:lnSpc>
            </a:pPr>
            <a:r>
              <a:rPr lang="en-US" sz="1918" b="true">
                <a:solidFill>
                  <a:srgbClr val="000000"/>
                </a:solidFill>
                <a:latin typeface="TT Fors Bold"/>
                <a:ea typeface="TT Fors Bold"/>
                <a:cs typeface="TT Fors Bold"/>
                <a:sym typeface="TT Fors Bold"/>
              </a:rPr>
              <a:t>Based on the analysis, the following recommendations can help improve airline performance:</a:t>
            </a:r>
          </a:p>
          <a:p>
            <a:pPr algn="ctr">
              <a:lnSpc>
                <a:spcPts val="2686"/>
              </a:lnSpc>
            </a:pPr>
            <a:r>
              <a:rPr lang="en-US" sz="1918" b="true">
                <a:solidFill>
                  <a:srgbClr val="000000"/>
                </a:solidFill>
                <a:latin typeface="TT Fors Bold"/>
                <a:ea typeface="TT Fors Bold"/>
                <a:cs typeface="TT Fors Bold"/>
                <a:sym typeface="TT Fors Bold"/>
              </a:rPr>
              <a:t>1. Reduce Flight Delays</a:t>
            </a:r>
          </a:p>
          <a:p>
            <a:pPr algn="ctr">
              <a:lnSpc>
                <a:spcPts val="2686"/>
              </a:lnSpc>
            </a:pPr>
            <a:r>
              <a:rPr lang="en-US" sz="1918" b="true">
                <a:solidFill>
                  <a:srgbClr val="000000"/>
                </a:solidFill>
                <a:latin typeface="TT Fors Bold"/>
                <a:ea typeface="TT Fors Bold"/>
                <a:cs typeface="TT Fors Bold"/>
                <a:sym typeface="TT Fors Bold"/>
              </a:rPr>
              <a:t>Airlines should investigate the routes and time periods associated with frequent or lengthy delays and review scheduling and operational procedures.</a:t>
            </a:r>
          </a:p>
          <a:p>
            <a:pPr algn="ctr">
              <a:lnSpc>
                <a:spcPts val="2686"/>
              </a:lnSpc>
            </a:pPr>
            <a:r>
              <a:rPr lang="en-US" sz="1918" b="true">
                <a:solidFill>
                  <a:srgbClr val="000000"/>
                </a:solidFill>
                <a:latin typeface="TT Fors Bold"/>
                <a:ea typeface="TT Fors Bold"/>
                <a:cs typeface="TT Fors Bold"/>
                <a:sym typeface="TT Fors Bold"/>
              </a:rPr>
              <a:t>2. Improve Revenue Performance</a:t>
            </a:r>
          </a:p>
          <a:p>
            <a:pPr algn="ctr">
              <a:lnSpc>
                <a:spcPts val="2686"/>
              </a:lnSpc>
            </a:pPr>
            <a:r>
              <a:rPr lang="en-US" sz="1918" b="true">
                <a:solidFill>
                  <a:srgbClr val="000000"/>
                </a:solidFill>
                <a:latin typeface="TT Fors Bold"/>
                <a:ea typeface="TT Fors Bold"/>
                <a:cs typeface="TT Fors Bold"/>
                <a:sym typeface="TT Fors Bold"/>
              </a:rPr>
              <a:t>Airlines should compare revenue across routes, airlines, and cabin classes to identify opportunities for better financial performance.</a:t>
            </a:r>
          </a:p>
        </p:txBody>
      </p:sp>
      <p:sp>
        <p:nvSpPr>
          <p:cNvPr name="TextBox 24" id="24"/>
          <p:cNvSpPr txBox="true"/>
          <p:nvPr/>
        </p:nvSpPr>
        <p:spPr>
          <a:xfrm rot="0">
            <a:off x="5020450" y="4006832"/>
            <a:ext cx="11934580" cy="2244760"/>
          </a:xfrm>
          <a:prstGeom prst="rect">
            <a:avLst/>
          </a:prstGeom>
        </p:spPr>
        <p:txBody>
          <a:bodyPr anchor="t" rtlCol="false" tIns="0" lIns="0" bIns="0" rIns="0">
            <a:spAutoFit/>
          </a:bodyPr>
          <a:lstStyle/>
          <a:p>
            <a:pPr algn="ctr">
              <a:lnSpc>
                <a:spcPts val="2558"/>
              </a:lnSpc>
            </a:pPr>
            <a:r>
              <a:rPr lang="en-US" sz="1827" b="true">
                <a:solidFill>
                  <a:srgbClr val="000000"/>
                </a:solidFill>
                <a:latin typeface="TT Fors Bold"/>
                <a:ea typeface="TT Fors Bold"/>
                <a:cs typeface="TT Fors Bold"/>
                <a:sym typeface="TT Fors Bold"/>
              </a:rPr>
              <a:t>3. Optimize Seat Capacity</a:t>
            </a:r>
          </a:p>
          <a:p>
            <a:pPr algn="ctr">
              <a:lnSpc>
                <a:spcPts val="2558"/>
              </a:lnSpc>
            </a:pPr>
            <a:r>
              <a:rPr lang="en-US" sz="1827" b="true">
                <a:solidFill>
                  <a:srgbClr val="000000"/>
                </a:solidFill>
                <a:latin typeface="TT Fors Bold"/>
                <a:ea typeface="TT Fors Bold"/>
                <a:cs typeface="TT Fors Bold"/>
                <a:sym typeface="TT Fors Bold"/>
              </a:rPr>
              <a:t>Flights with consistently low load factors should be reviewed to understand passenger demand and determine whether capacity adjustments are appropriate.</a:t>
            </a:r>
          </a:p>
          <a:p>
            <a:pPr algn="ctr">
              <a:lnSpc>
                <a:spcPts val="2558"/>
              </a:lnSpc>
            </a:pPr>
            <a:r>
              <a:rPr lang="en-US" sz="1827" b="true">
                <a:solidFill>
                  <a:srgbClr val="000000"/>
                </a:solidFill>
                <a:latin typeface="TT Fors Bold"/>
                <a:ea typeface="TT Fors Bold"/>
                <a:cs typeface="TT Fors Bold"/>
                <a:sym typeface="TT Fors Bold"/>
              </a:rPr>
              <a:t>4. Enhance Customer Satisfaction</a:t>
            </a:r>
          </a:p>
          <a:p>
            <a:pPr algn="ctr">
              <a:lnSpc>
                <a:spcPts val="2558"/>
              </a:lnSpc>
            </a:pPr>
            <a:r>
              <a:rPr lang="en-US" sz="1827" b="true">
                <a:solidFill>
                  <a:srgbClr val="000000"/>
                </a:solidFill>
                <a:latin typeface="TT Fors Bold"/>
                <a:ea typeface="TT Fors Bold"/>
                <a:cs typeface="TT Fors Bold"/>
                <a:sym typeface="TT Fors Bold"/>
              </a:rPr>
              <a:t>Airlines should monitor customer ratings and feedback to identify service issues and improve the passenger experience.</a:t>
            </a:r>
          </a:p>
          <a:p>
            <a:pPr algn="ctr">
              <a:lnSpc>
                <a:spcPts val="2558"/>
              </a:lnSpc>
            </a:pPr>
            <a:r>
              <a:rPr lang="en-US" sz="1827" b="true">
                <a:solidFill>
                  <a:srgbClr val="000000"/>
                </a:solidFill>
                <a:latin typeface="TT Fors Bold"/>
                <a:ea typeface="TT Fors Bold"/>
                <a:cs typeface="TT Fors Bold"/>
                <a:sym typeface="TT Fors Bold"/>
              </a:rPr>
              <a:t>5. Monitor Profitability</a:t>
            </a:r>
          </a:p>
        </p:txBody>
      </p:sp>
      <p:sp>
        <p:nvSpPr>
          <p:cNvPr name="TextBox 25" id="25"/>
          <p:cNvSpPr txBox="true"/>
          <p:nvPr/>
        </p:nvSpPr>
        <p:spPr>
          <a:xfrm rot="0">
            <a:off x="0" y="6461143"/>
            <a:ext cx="11259610" cy="2785861"/>
          </a:xfrm>
          <a:prstGeom prst="rect">
            <a:avLst/>
          </a:prstGeom>
        </p:spPr>
        <p:txBody>
          <a:bodyPr anchor="t" rtlCol="false" tIns="0" lIns="0" bIns="0" rIns="0">
            <a:spAutoFit/>
          </a:bodyPr>
          <a:lstStyle/>
          <a:p>
            <a:pPr algn="ctr">
              <a:lnSpc>
                <a:spcPts val="1848"/>
              </a:lnSpc>
            </a:pPr>
            <a:r>
              <a:rPr lang="en-US" sz="1320" b="true">
                <a:solidFill>
                  <a:srgbClr val="000000"/>
                </a:solidFill>
                <a:latin typeface="TT Fors Bold"/>
                <a:ea typeface="TT Fors Bold"/>
                <a:cs typeface="TT Fors Bold"/>
                <a:sym typeface="TT Fors Bold"/>
              </a:rPr>
              <a:t>Revenue and profit should be analyzed together to understand which operations generate stronger financial results.</a:t>
            </a:r>
          </a:p>
          <a:p>
            <a:pPr algn="ctr">
              <a:lnSpc>
                <a:spcPts val="1848"/>
              </a:lnSpc>
            </a:pPr>
            <a:r>
              <a:rPr lang="en-US" sz="1320" b="true">
                <a:solidFill>
                  <a:srgbClr val="000000"/>
                </a:solidFill>
                <a:latin typeface="TT Fors Bold"/>
                <a:ea typeface="TT Fors Bold"/>
                <a:cs typeface="TT Fors Bold"/>
                <a:sym typeface="TT Fors Bold"/>
              </a:rPr>
              <a:t>6. Track Baggage Claims</a:t>
            </a:r>
          </a:p>
          <a:p>
            <a:pPr algn="ctr">
              <a:lnSpc>
                <a:spcPts val="3220"/>
              </a:lnSpc>
            </a:pPr>
            <a:r>
              <a:rPr lang="en-US" sz="2300" b="true">
                <a:solidFill>
                  <a:srgbClr val="000000"/>
                </a:solidFill>
                <a:latin typeface="TT Fors Bold"/>
                <a:ea typeface="TT Fors Bold"/>
                <a:cs typeface="TT Fors Bold"/>
                <a:sym typeface="TT Fors Bold"/>
              </a:rPr>
              <a:t>Monitoring baggage claims can help airlines identify recurring service problems and improve baggage-handling procedures.</a:t>
            </a:r>
          </a:p>
          <a:p>
            <a:pPr algn="ctr">
              <a:lnSpc>
                <a:spcPts val="3079"/>
              </a:lnSpc>
            </a:pPr>
            <a:r>
              <a:rPr lang="en-US" sz="2199" b="true">
                <a:solidFill>
                  <a:srgbClr val="000000"/>
                </a:solidFill>
                <a:latin typeface="TT Fors Bold"/>
                <a:ea typeface="TT Fors Bold"/>
                <a:cs typeface="TT Fors Bold"/>
                <a:sym typeface="TT Fors Bold"/>
              </a:rPr>
              <a:t>7. Use Interactive Filters</a:t>
            </a:r>
          </a:p>
          <a:p>
            <a:pPr algn="ctr">
              <a:lnSpc>
                <a:spcPts val="1848"/>
              </a:lnSpc>
            </a:pPr>
            <a:r>
              <a:rPr lang="en-US" sz="1320" b="true">
                <a:solidFill>
                  <a:srgbClr val="000000"/>
                </a:solidFill>
                <a:latin typeface="TT Fors Bold"/>
                <a:ea typeface="TT Fors Bold"/>
                <a:cs typeface="TT Fors Bold"/>
                <a:sym typeface="TT Fors Bold"/>
              </a:rPr>
              <a:t>Users should apply filters for airline, flight status, route, and date to investigate specific performance issues and compare different segments.</a:t>
            </a:r>
          </a:p>
          <a:p>
            <a:pPr algn="ctr">
              <a:lnSpc>
                <a:spcPts val="1848"/>
              </a:lnSpc>
            </a:pPr>
            <a:r>
              <a:rPr lang="en-US" sz="1320" b="true">
                <a:solidFill>
                  <a:srgbClr val="000000"/>
                </a:solidFill>
                <a:latin typeface="TT Fors Bold"/>
                <a:ea typeface="TT Fors Bold"/>
                <a:cs typeface="TT Fors Bold"/>
                <a:sym typeface="TT Fors Bold"/>
              </a:rPr>
              <a:t>8. Update the Dataset Regularly</a:t>
            </a:r>
          </a:p>
          <a:p>
            <a:pPr algn="ctr">
              <a:lnSpc>
                <a:spcPts val="1848"/>
              </a:lnSpc>
            </a:pPr>
            <a:r>
              <a:rPr lang="en-US" sz="1320" b="true">
                <a:solidFill>
                  <a:srgbClr val="000000"/>
                </a:solidFill>
                <a:latin typeface="TT Fors Bold"/>
                <a:ea typeface="TT Fors Bold"/>
                <a:cs typeface="TT Fors Bold"/>
                <a:sym typeface="TT Fors Bold"/>
              </a:rPr>
              <a:t>Regularly refreshing the dataset will help users monitor changes in performance and make decisions using more recent information.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2011784" y="-1277023"/>
            <a:ext cx="21929406" cy="10964703"/>
            <a:chOff x="0" y="0"/>
            <a:chExt cx="29239208" cy="14619604"/>
          </a:xfrm>
        </p:grpSpPr>
        <p:sp>
          <p:nvSpPr>
            <p:cNvPr name="Freeform 3" id="3"/>
            <p:cNvSpPr/>
            <p:nvPr/>
          </p:nvSpPr>
          <p:spPr>
            <a:xfrm flipH="false" flipV="false" rot="0">
              <a:off x="0" y="0"/>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309802"/>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309802" y="0"/>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309802" y="7309802"/>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619604" y="0"/>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619604" y="7309802"/>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929406" y="0"/>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929406" y="7309802"/>
              <a:ext cx="7309802" cy="7309802"/>
            </a:xfrm>
            <a:custGeom>
              <a:avLst/>
              <a:gdLst/>
              <a:ahLst/>
              <a:cxnLst/>
              <a:rect r="r" b="b" t="t" l="l"/>
              <a:pathLst>
                <a:path h="7309802" w="7309802">
                  <a:moveTo>
                    <a:pt x="0" y="0"/>
                  </a:moveTo>
                  <a:lnTo>
                    <a:pt x="7309802" y="0"/>
                  </a:lnTo>
                  <a:lnTo>
                    <a:pt x="7309802" y="7309802"/>
                  </a:lnTo>
                  <a:lnTo>
                    <a:pt x="0" y="7309802"/>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870691" y="5348116"/>
            <a:ext cx="9495432" cy="3251998"/>
            <a:chOff x="0" y="0"/>
            <a:chExt cx="1471091" cy="503820"/>
          </a:xfrm>
        </p:grpSpPr>
        <p:sp>
          <p:nvSpPr>
            <p:cNvPr name="Freeform 15" id="15"/>
            <p:cNvSpPr/>
            <p:nvPr/>
          </p:nvSpPr>
          <p:spPr>
            <a:xfrm flipH="false" flipV="false" rot="0">
              <a:off x="0" y="0"/>
              <a:ext cx="1471091" cy="503820"/>
            </a:xfrm>
            <a:custGeom>
              <a:avLst/>
              <a:gdLst/>
              <a:ahLst/>
              <a:cxnLst/>
              <a:rect r="r" b="b" t="t" l="l"/>
              <a:pathLst>
                <a:path h="503820" w="1471091">
                  <a:moveTo>
                    <a:pt x="18753" y="0"/>
                  </a:moveTo>
                  <a:lnTo>
                    <a:pt x="1452338" y="0"/>
                  </a:lnTo>
                  <a:cubicBezTo>
                    <a:pt x="1462695" y="0"/>
                    <a:pt x="1471091" y="8396"/>
                    <a:pt x="1471091" y="18753"/>
                  </a:cubicBezTo>
                  <a:lnTo>
                    <a:pt x="1471091" y="485067"/>
                  </a:lnTo>
                  <a:cubicBezTo>
                    <a:pt x="1471091" y="495424"/>
                    <a:pt x="1462695" y="503820"/>
                    <a:pt x="1452338" y="503820"/>
                  </a:cubicBezTo>
                  <a:lnTo>
                    <a:pt x="18753" y="503820"/>
                  </a:lnTo>
                  <a:cubicBezTo>
                    <a:pt x="13779" y="503820"/>
                    <a:pt x="9009" y="501844"/>
                    <a:pt x="5493" y="498327"/>
                  </a:cubicBezTo>
                  <a:cubicBezTo>
                    <a:pt x="1976" y="494810"/>
                    <a:pt x="0" y="490041"/>
                    <a:pt x="0" y="485067"/>
                  </a:cubicBezTo>
                  <a:lnTo>
                    <a:pt x="0" y="18753"/>
                  </a:lnTo>
                  <a:cubicBezTo>
                    <a:pt x="0" y="8396"/>
                    <a:pt x="8396" y="0"/>
                    <a:pt x="18753" y="0"/>
                  </a:cubicBezTo>
                  <a:close/>
                </a:path>
              </a:pathLst>
            </a:custGeom>
            <a:blipFill>
              <a:blip r:embed="rId4"/>
              <a:stretch>
                <a:fillRect l="0" t="-47268" r="0" b="-47268"/>
              </a:stretch>
            </a:blipFill>
          </p:spPr>
        </p:sp>
      </p:grpSp>
      <p:grpSp>
        <p:nvGrpSpPr>
          <p:cNvPr name="Group 16" id="16"/>
          <p:cNvGrpSpPr/>
          <p:nvPr/>
        </p:nvGrpSpPr>
        <p:grpSpPr>
          <a:xfrm rot="0">
            <a:off x="1028700" y="1495113"/>
            <a:ext cx="5965746" cy="3602958"/>
            <a:chOff x="0" y="0"/>
            <a:chExt cx="924250" cy="558193"/>
          </a:xfrm>
        </p:grpSpPr>
        <p:sp>
          <p:nvSpPr>
            <p:cNvPr name="Freeform 17" id="17"/>
            <p:cNvSpPr/>
            <p:nvPr/>
          </p:nvSpPr>
          <p:spPr>
            <a:xfrm flipH="true" flipV="false" rot="0">
              <a:off x="0" y="0"/>
              <a:ext cx="924250" cy="558193"/>
            </a:xfrm>
            <a:custGeom>
              <a:avLst/>
              <a:gdLst/>
              <a:ahLst/>
              <a:cxnLst/>
              <a:rect r="r" b="b" t="t" l="l"/>
              <a:pathLst>
                <a:path h="558193" w="924250">
                  <a:moveTo>
                    <a:pt x="894402" y="0"/>
                  </a:moveTo>
                  <a:lnTo>
                    <a:pt x="29848" y="0"/>
                  </a:lnTo>
                  <a:cubicBezTo>
                    <a:pt x="21932" y="0"/>
                    <a:pt x="14340" y="3145"/>
                    <a:pt x="8742" y="8742"/>
                  </a:cubicBezTo>
                  <a:cubicBezTo>
                    <a:pt x="3145" y="14340"/>
                    <a:pt x="0" y="21932"/>
                    <a:pt x="0" y="29848"/>
                  </a:cubicBezTo>
                  <a:lnTo>
                    <a:pt x="0" y="528345"/>
                  </a:lnTo>
                  <a:cubicBezTo>
                    <a:pt x="0" y="544829"/>
                    <a:pt x="13363" y="558193"/>
                    <a:pt x="29848" y="558193"/>
                  </a:cubicBezTo>
                  <a:lnTo>
                    <a:pt x="894402" y="558193"/>
                  </a:lnTo>
                  <a:cubicBezTo>
                    <a:pt x="902319" y="558193"/>
                    <a:pt x="909910" y="555048"/>
                    <a:pt x="915508" y="549450"/>
                  </a:cubicBezTo>
                  <a:cubicBezTo>
                    <a:pt x="921106" y="543853"/>
                    <a:pt x="924250" y="536261"/>
                    <a:pt x="924250" y="528345"/>
                  </a:cubicBezTo>
                  <a:lnTo>
                    <a:pt x="924250" y="29848"/>
                  </a:lnTo>
                  <a:cubicBezTo>
                    <a:pt x="924250" y="21932"/>
                    <a:pt x="921106" y="14340"/>
                    <a:pt x="915508" y="8742"/>
                  </a:cubicBezTo>
                  <a:cubicBezTo>
                    <a:pt x="909910" y="3145"/>
                    <a:pt x="902319" y="0"/>
                    <a:pt x="894402" y="0"/>
                  </a:cubicBezTo>
                  <a:close/>
                </a:path>
              </a:pathLst>
            </a:custGeom>
            <a:blipFill>
              <a:blip r:embed="rId5"/>
              <a:stretch>
                <a:fillRect l="0" t="-5262" r="0" b="-5262"/>
              </a:stretch>
            </a:blipFill>
          </p:spPr>
        </p:sp>
      </p:grpSp>
      <p:sp>
        <p:nvSpPr>
          <p:cNvPr name="TextBox 18" id="18"/>
          <p:cNvSpPr txBox="true"/>
          <p:nvPr/>
        </p:nvSpPr>
        <p:spPr>
          <a:xfrm rot="0">
            <a:off x="6476840" y="460439"/>
            <a:ext cx="9495432" cy="108775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Conclusion </a:t>
            </a:r>
          </a:p>
        </p:txBody>
      </p:sp>
      <p:sp>
        <p:nvSpPr>
          <p:cNvPr name="TextBox 19" id="19"/>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20" id="20"/>
          <p:cNvGrpSpPr/>
          <p:nvPr/>
        </p:nvGrpSpPr>
        <p:grpSpPr>
          <a:xfrm rot="0">
            <a:off x="16543936" y="646641"/>
            <a:ext cx="822187" cy="82218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07</a:t>
            </a:r>
          </a:p>
        </p:txBody>
      </p:sp>
      <p:sp>
        <p:nvSpPr>
          <p:cNvPr name="Freeform 24" id="24"/>
          <p:cNvSpPr/>
          <p:nvPr/>
        </p:nvSpPr>
        <p:spPr>
          <a:xfrm flipH="false" flipV="false" rot="0">
            <a:off x="16212730" y="6091404"/>
            <a:ext cx="1838981" cy="1765422"/>
          </a:xfrm>
          <a:custGeom>
            <a:avLst/>
            <a:gdLst/>
            <a:ahLst/>
            <a:cxnLst/>
            <a:rect r="r" b="b" t="t" l="l"/>
            <a:pathLst>
              <a:path h="1765422" w="1838981">
                <a:moveTo>
                  <a:pt x="0" y="0"/>
                </a:moveTo>
                <a:lnTo>
                  <a:pt x="1838981" y="0"/>
                </a:lnTo>
                <a:lnTo>
                  <a:pt x="1838981" y="1765422"/>
                </a:lnTo>
                <a:lnTo>
                  <a:pt x="0" y="17654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367251" y="2981318"/>
            <a:ext cx="1322898" cy="1418312"/>
          </a:xfrm>
          <a:custGeom>
            <a:avLst/>
            <a:gdLst/>
            <a:ahLst/>
            <a:cxnLst/>
            <a:rect r="r" b="b" t="t" l="l"/>
            <a:pathLst>
              <a:path h="1418312" w="1322898">
                <a:moveTo>
                  <a:pt x="0" y="0"/>
                </a:moveTo>
                <a:lnTo>
                  <a:pt x="1322898" y="0"/>
                </a:lnTo>
                <a:lnTo>
                  <a:pt x="1322898" y="1418312"/>
                </a:lnTo>
                <a:lnTo>
                  <a:pt x="0" y="1418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6" id="26"/>
          <p:cNvSpPr txBox="true"/>
          <p:nvPr/>
        </p:nvSpPr>
        <p:spPr>
          <a:xfrm rot="0">
            <a:off x="968341" y="5204976"/>
            <a:ext cx="6129731" cy="4511497"/>
          </a:xfrm>
          <a:prstGeom prst="rect">
            <a:avLst/>
          </a:prstGeom>
        </p:spPr>
        <p:txBody>
          <a:bodyPr anchor="t" rtlCol="false" tIns="0" lIns="0" bIns="0" rIns="0">
            <a:spAutoFit/>
          </a:bodyPr>
          <a:lstStyle/>
          <a:p>
            <a:pPr algn="ctr">
              <a:lnSpc>
                <a:spcPts val="4374"/>
              </a:lnSpc>
            </a:pPr>
            <a:r>
              <a:rPr lang="en-US" sz="3124" b="true">
                <a:solidFill>
                  <a:srgbClr val="000000"/>
                </a:solidFill>
                <a:latin typeface="TT Fors Bold"/>
                <a:ea typeface="TT Fors Bold"/>
                <a:cs typeface="TT Fors Bold"/>
                <a:sym typeface="TT Fors Bold"/>
              </a:rPr>
              <a:t>The Airline Flight Performance Dashboard provides a clear and organized overview of airline operations, revenue, profitability, flight status, passenger occupancy, and customer satisfaction.</a:t>
            </a:r>
          </a:p>
          <a:p>
            <a:pPr algn="ctr">
              <a:lnSpc>
                <a:spcPts val="1737"/>
              </a:lnSpc>
            </a:pPr>
            <a:r>
              <a:rPr lang="en-US" sz="1241" b="true">
                <a:solidFill>
                  <a:srgbClr val="000000"/>
                </a:solidFill>
                <a:latin typeface="TT Fors Bold"/>
                <a:ea typeface="TT Fors Bold"/>
                <a:cs typeface="TT Fors Bold"/>
                <a:sym typeface="TT Fors Bold"/>
              </a:rPr>
              <a:t>The analysis of 500 flight records shows total revenue of approximately ₹69.49 crore, total profit of ₹26.27 crore, an average load factor of 80.6%, and an average customer rating of 3.92 out of 5.</a:t>
            </a:r>
          </a:p>
        </p:txBody>
      </p:sp>
      <p:sp>
        <p:nvSpPr>
          <p:cNvPr name="TextBox 27" id="27"/>
          <p:cNvSpPr txBox="true"/>
          <p:nvPr/>
        </p:nvSpPr>
        <p:spPr>
          <a:xfrm rot="0">
            <a:off x="7021434" y="2677834"/>
            <a:ext cx="11328416" cy="1914091"/>
          </a:xfrm>
          <a:prstGeom prst="rect">
            <a:avLst/>
          </a:prstGeom>
        </p:spPr>
        <p:txBody>
          <a:bodyPr anchor="t" rtlCol="false" tIns="0" lIns="0" bIns="0" rIns="0">
            <a:spAutoFit/>
          </a:bodyPr>
          <a:lstStyle/>
          <a:p>
            <a:pPr algn="ctr">
              <a:lnSpc>
                <a:spcPts val="2548"/>
              </a:lnSpc>
            </a:pPr>
            <a:r>
              <a:rPr lang="en-US" sz="1820" b="true">
                <a:solidFill>
                  <a:srgbClr val="000000"/>
                </a:solidFill>
                <a:latin typeface="TT Fors Bold"/>
                <a:ea typeface="TT Fors Bold"/>
                <a:cs typeface="TT Fors Bold"/>
                <a:sym typeface="TT Fors Bold"/>
              </a:rPr>
              <a:t>Although most recorded flights were on time, the proportion of delayed flights highlights an important area for further investigation.</a:t>
            </a:r>
          </a:p>
          <a:p>
            <a:pPr algn="ctr">
              <a:lnSpc>
                <a:spcPts val="2548"/>
              </a:lnSpc>
            </a:pPr>
            <a:r>
              <a:rPr lang="en-US" sz="1820" b="true">
                <a:solidFill>
                  <a:srgbClr val="000000"/>
                </a:solidFill>
                <a:latin typeface="TT Fors Bold"/>
                <a:ea typeface="TT Fors Bold"/>
                <a:cs typeface="TT Fors Bold"/>
                <a:sym typeface="TT Fors Bold"/>
              </a:rPr>
              <a:t>Overall, this project demonstrates how data analytics and visualization can convert raw airline data into meaningful insights. The dashboard supports performance monitoring, helps identify potential improvement areas, and provides a foundation for data-driven decision-making.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TextBox 2" id="2"/>
          <p:cNvSpPr txBox="true"/>
          <p:nvPr/>
        </p:nvSpPr>
        <p:spPr>
          <a:xfrm rot="0">
            <a:off x="375015" y="404431"/>
            <a:ext cx="7559305" cy="205930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Charts &amp; graphs</a:t>
            </a:r>
          </a:p>
        </p:txBody>
      </p:sp>
      <p:sp>
        <p:nvSpPr>
          <p:cNvPr name="Freeform 3" id="3"/>
          <p:cNvSpPr/>
          <p:nvPr/>
        </p:nvSpPr>
        <p:spPr>
          <a:xfrm flipH="false" flipV="false" rot="0">
            <a:off x="5502088" y="0"/>
            <a:ext cx="3142583" cy="3051162"/>
          </a:xfrm>
          <a:custGeom>
            <a:avLst/>
            <a:gdLst/>
            <a:ahLst/>
            <a:cxnLst/>
            <a:rect r="r" b="b" t="t" l="l"/>
            <a:pathLst>
              <a:path h="3051162" w="3142583">
                <a:moveTo>
                  <a:pt x="0" y="0"/>
                </a:moveTo>
                <a:lnTo>
                  <a:pt x="3142583" y="0"/>
                </a:lnTo>
                <a:lnTo>
                  <a:pt x="3142583" y="3051162"/>
                </a:lnTo>
                <a:lnTo>
                  <a:pt x="0" y="30511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9919" y="2493108"/>
            <a:ext cx="6133448" cy="4577369"/>
          </a:xfrm>
          <a:custGeom>
            <a:avLst/>
            <a:gdLst/>
            <a:ahLst/>
            <a:cxnLst/>
            <a:rect r="r" b="b" t="t" l="l"/>
            <a:pathLst>
              <a:path h="4577369" w="6133448">
                <a:moveTo>
                  <a:pt x="0" y="0"/>
                </a:moveTo>
                <a:lnTo>
                  <a:pt x="6133447" y="0"/>
                </a:lnTo>
                <a:lnTo>
                  <a:pt x="6133447" y="4577369"/>
                </a:lnTo>
                <a:lnTo>
                  <a:pt x="0" y="4577369"/>
                </a:lnTo>
                <a:lnTo>
                  <a:pt x="0" y="0"/>
                </a:lnTo>
                <a:close/>
              </a:path>
            </a:pathLst>
          </a:custGeom>
          <a:blipFill>
            <a:blip r:embed="rId4"/>
            <a:stretch>
              <a:fillRect l="0" t="0" r="0" b="0"/>
            </a:stretch>
          </a:blipFill>
        </p:spPr>
      </p:sp>
      <p:sp>
        <p:nvSpPr>
          <p:cNvPr name="Freeform 5" id="5"/>
          <p:cNvSpPr/>
          <p:nvPr/>
        </p:nvSpPr>
        <p:spPr>
          <a:xfrm flipH="false" flipV="false" rot="0">
            <a:off x="8644671" y="180942"/>
            <a:ext cx="5180334" cy="3602251"/>
          </a:xfrm>
          <a:custGeom>
            <a:avLst/>
            <a:gdLst/>
            <a:ahLst/>
            <a:cxnLst/>
            <a:rect r="r" b="b" t="t" l="l"/>
            <a:pathLst>
              <a:path h="3602251" w="5180334">
                <a:moveTo>
                  <a:pt x="0" y="0"/>
                </a:moveTo>
                <a:lnTo>
                  <a:pt x="5180334" y="0"/>
                </a:lnTo>
                <a:lnTo>
                  <a:pt x="5180334" y="3602251"/>
                </a:lnTo>
                <a:lnTo>
                  <a:pt x="0" y="3602251"/>
                </a:lnTo>
                <a:lnTo>
                  <a:pt x="0" y="0"/>
                </a:lnTo>
                <a:close/>
              </a:path>
            </a:pathLst>
          </a:custGeom>
          <a:blipFill>
            <a:blip r:embed="rId5"/>
            <a:stretch>
              <a:fillRect l="0" t="0" r="0" b="0"/>
            </a:stretch>
          </a:blipFill>
        </p:spPr>
      </p:sp>
      <p:grpSp>
        <p:nvGrpSpPr>
          <p:cNvPr name="Group 6" id="6"/>
          <p:cNvGrpSpPr/>
          <p:nvPr/>
        </p:nvGrpSpPr>
        <p:grpSpPr>
          <a:xfrm rot="0">
            <a:off x="-1011529" y="0"/>
            <a:ext cx="21517324" cy="10758662"/>
            <a:chOff x="0" y="0"/>
            <a:chExt cx="28689765" cy="14344882"/>
          </a:xfrm>
        </p:grpSpPr>
        <p:sp>
          <p:nvSpPr>
            <p:cNvPr name="Freeform 7" id="7"/>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6">
                <a:alphaModFix amt="9999"/>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12292202" y="3783193"/>
            <a:ext cx="5548422" cy="3704085"/>
          </a:xfrm>
          <a:custGeom>
            <a:avLst/>
            <a:gdLst/>
            <a:ahLst/>
            <a:cxnLst/>
            <a:rect r="r" b="b" t="t" l="l"/>
            <a:pathLst>
              <a:path h="3704085" w="5548422">
                <a:moveTo>
                  <a:pt x="0" y="0"/>
                </a:moveTo>
                <a:lnTo>
                  <a:pt x="5548422" y="0"/>
                </a:lnTo>
                <a:lnTo>
                  <a:pt x="5548422" y="3704085"/>
                </a:lnTo>
                <a:lnTo>
                  <a:pt x="0" y="3704085"/>
                </a:lnTo>
                <a:lnTo>
                  <a:pt x="0" y="0"/>
                </a:lnTo>
                <a:close/>
              </a:path>
            </a:pathLst>
          </a:custGeom>
          <a:blipFill>
            <a:blip r:embed="rId8"/>
            <a:stretch>
              <a:fillRect l="0" t="0" r="0" b="0"/>
            </a:stretch>
          </a:blipFill>
        </p:spPr>
      </p:sp>
      <p:sp>
        <p:nvSpPr>
          <p:cNvPr name="Freeform 16" id="16"/>
          <p:cNvSpPr/>
          <p:nvPr/>
        </p:nvSpPr>
        <p:spPr>
          <a:xfrm flipH="false" flipV="false" rot="0">
            <a:off x="5678862" y="3783193"/>
            <a:ext cx="6290097" cy="3651751"/>
          </a:xfrm>
          <a:custGeom>
            <a:avLst/>
            <a:gdLst/>
            <a:ahLst/>
            <a:cxnLst/>
            <a:rect r="r" b="b" t="t" l="l"/>
            <a:pathLst>
              <a:path h="3651751" w="6290097">
                <a:moveTo>
                  <a:pt x="0" y="0"/>
                </a:moveTo>
                <a:lnTo>
                  <a:pt x="6290097" y="0"/>
                </a:lnTo>
                <a:lnTo>
                  <a:pt x="6290097" y="3651750"/>
                </a:lnTo>
                <a:lnTo>
                  <a:pt x="0" y="3651750"/>
                </a:lnTo>
                <a:lnTo>
                  <a:pt x="0" y="0"/>
                </a:lnTo>
                <a:close/>
              </a:path>
            </a:pathLst>
          </a:custGeom>
          <a:blipFill>
            <a:blip r:embed="rId9"/>
            <a:stretch>
              <a:fillRect l="0" t="0" r="0" b="0"/>
            </a:stretch>
          </a:blipFill>
        </p:spPr>
      </p:sp>
      <p:sp>
        <p:nvSpPr>
          <p:cNvPr name="Freeform 17" id="17"/>
          <p:cNvSpPr/>
          <p:nvPr/>
        </p:nvSpPr>
        <p:spPr>
          <a:xfrm flipH="false" flipV="false" rot="0">
            <a:off x="264359" y="6166506"/>
            <a:ext cx="5351228" cy="3831609"/>
          </a:xfrm>
          <a:custGeom>
            <a:avLst/>
            <a:gdLst/>
            <a:ahLst/>
            <a:cxnLst/>
            <a:rect r="r" b="b" t="t" l="l"/>
            <a:pathLst>
              <a:path h="3831609" w="5351228">
                <a:moveTo>
                  <a:pt x="0" y="0"/>
                </a:moveTo>
                <a:lnTo>
                  <a:pt x="5351227" y="0"/>
                </a:lnTo>
                <a:lnTo>
                  <a:pt x="5351227" y="3831609"/>
                </a:lnTo>
                <a:lnTo>
                  <a:pt x="0" y="3831609"/>
                </a:lnTo>
                <a:lnTo>
                  <a:pt x="0" y="0"/>
                </a:lnTo>
                <a:close/>
              </a:path>
            </a:pathLst>
          </a:custGeom>
          <a:blipFill>
            <a:blip r:embed="rId10"/>
            <a:stretch>
              <a:fillRect l="0" t="0" r="0" b="0"/>
            </a:stretch>
          </a:blipFill>
        </p:spPr>
      </p:sp>
      <p:sp>
        <p:nvSpPr>
          <p:cNvPr name="Freeform 18" id="18"/>
          <p:cNvSpPr/>
          <p:nvPr/>
        </p:nvSpPr>
        <p:spPr>
          <a:xfrm flipH="false" flipV="false" rot="0">
            <a:off x="13861144" y="383630"/>
            <a:ext cx="3677689" cy="2880118"/>
          </a:xfrm>
          <a:custGeom>
            <a:avLst/>
            <a:gdLst/>
            <a:ahLst/>
            <a:cxnLst/>
            <a:rect r="r" b="b" t="t" l="l"/>
            <a:pathLst>
              <a:path h="2880118" w="3677689">
                <a:moveTo>
                  <a:pt x="0" y="0"/>
                </a:moveTo>
                <a:lnTo>
                  <a:pt x="3677689" y="0"/>
                </a:lnTo>
                <a:lnTo>
                  <a:pt x="3677689" y="2880118"/>
                </a:lnTo>
                <a:lnTo>
                  <a:pt x="0" y="2880118"/>
                </a:lnTo>
                <a:lnTo>
                  <a:pt x="0" y="0"/>
                </a:lnTo>
                <a:close/>
              </a:path>
            </a:pathLst>
          </a:custGeom>
          <a:blipFill>
            <a:blip r:embed="rId11"/>
            <a:stretch>
              <a:fillRect l="0" t="0" r="0" b="0"/>
            </a:stretch>
          </a:blipFill>
        </p:spPr>
      </p:sp>
      <p:sp>
        <p:nvSpPr>
          <p:cNvPr name="Freeform 19" id="19"/>
          <p:cNvSpPr/>
          <p:nvPr/>
        </p:nvSpPr>
        <p:spPr>
          <a:xfrm flipH="false" flipV="false" rot="0">
            <a:off x="9427006" y="6835165"/>
            <a:ext cx="4148535" cy="3238162"/>
          </a:xfrm>
          <a:custGeom>
            <a:avLst/>
            <a:gdLst/>
            <a:ahLst/>
            <a:cxnLst/>
            <a:rect r="r" b="b" t="t" l="l"/>
            <a:pathLst>
              <a:path h="3238162" w="4148535">
                <a:moveTo>
                  <a:pt x="0" y="0"/>
                </a:moveTo>
                <a:lnTo>
                  <a:pt x="4148535" y="0"/>
                </a:lnTo>
                <a:lnTo>
                  <a:pt x="4148535" y="3238161"/>
                </a:lnTo>
                <a:lnTo>
                  <a:pt x="0" y="3238161"/>
                </a:lnTo>
                <a:lnTo>
                  <a:pt x="0" y="0"/>
                </a:lnTo>
                <a:close/>
              </a:path>
            </a:pathLst>
          </a:custGeom>
          <a:blipFill>
            <a:blip r:embed="rId1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DAHXzd206VM</dc:identifier>
  <dcterms:modified xsi:type="dcterms:W3CDTF">2011-08-01T06:04:30Z</dcterms:modified>
  <cp:revision>1</cp:revision>
  <dc:title>Blue and Beige Modern Social Media Marketing Presentation</dc:title>
</cp:coreProperties>
</file>